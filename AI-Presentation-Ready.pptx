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66" r:id="rId6"/>
    <p:sldId id="301" r:id="rId7"/>
    <p:sldId id="263" r:id="rId8"/>
    <p:sldId id="262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259" r:id="rId17"/>
    <p:sldId id="275" r:id="rId18"/>
    <p:sldId id="276" r:id="rId19"/>
    <p:sldId id="265" r:id="rId20"/>
    <p:sldId id="278" r:id="rId21"/>
    <p:sldId id="279" r:id="rId22"/>
    <p:sldId id="273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Barlow" panose="00000500000000000000" pitchFamily="2" charset="0"/>
      <p:regular r:id="rId27"/>
      <p:bold r:id="rId28"/>
      <p:italic r:id="rId29"/>
      <p:boldItalic r:id="rId30"/>
    </p:embeddedFont>
    <p:embeddedFont>
      <p:font typeface="Barlow Condensed ExtraBold" panose="00000906000000000000" pitchFamily="2" charset="0"/>
      <p:bold r:id="rId31"/>
      <p:boldItalic r:id="rId32"/>
    </p:embeddedFont>
    <p:embeddedFont>
      <p:font typeface="Nunito Light" pitchFamily="2" charset="0"/>
      <p:regular r:id="rId33"/>
      <p:italic r:id="rId34"/>
    </p:embeddedFont>
    <p:embeddedFont>
      <p:font typeface="Overpass Mono" panose="020B0604020202020204" charset="0"/>
      <p:regular r:id="rId35"/>
      <p:bold r:id="rId36"/>
    </p:embeddedFont>
    <p:embeddedFont>
      <p:font typeface="Raleway SemiBold" pitchFamily="2" charset="0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2C6B4E-186C-437C-9193-A04F798C439B}">
  <a:tblStyle styleId="{DC2C6B4E-186C-437C-9193-A04F798C43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3B1F61B-D2F2-41FD-AAA9-CB481C0337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b872573b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5" name="Google Shape;345;g8b872573b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d4cbd36da_4_3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6" name="Google Shape;366;g8d4cbd36da_4_31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0" name="Google Shape;460;g8b872573b1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07E50F22-79EB-3D68-F06D-7AA64C01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C42DCE67-1F02-EAB0-23C6-4549E95C2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47FBC798-3516-EAC4-1CBC-41B600F92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8264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69B3A4F5-51CB-BE28-C6FB-CB406FE8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2D9D0596-E551-E8D8-432E-CA60C6AA1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B684B3B6-DAC1-68DA-2E3C-84DD330EA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734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9E58D29E-5E45-9907-4803-EFCC4F9E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FE287A10-534E-0676-563C-7E2AAC848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7D37D0A4-4218-413A-063F-B3E3101C3D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106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BB91F01B-62D5-A999-00D7-AEEA4C19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DCAFC372-3213-60C7-F74E-BECE1BFB7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3B586881-7202-410E-3FA6-C13D7CC8E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168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B80724CF-35DB-9749-47CF-738F02A8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DD448748-5FC8-7AE7-878C-531F2C3DF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67FB4B05-E931-8F92-B2B4-5BB4D2D15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392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F97BABB1-961A-F7ED-7268-BB41178F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C4A3F485-FD2F-92EC-194C-8B61D0CEB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4D12C0EE-1F1A-C2B2-8C52-7C60406AD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159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4A391CDA-E59A-6804-2FB2-5BF19A28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1579492F-89E3-4288-ABF2-A451BE799D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1C62DA4D-48DD-D5E7-6982-69124E9EE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078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C372261C-9648-D68B-AFE9-10CE1940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53519118-6529-9FA0-83F4-C915E2D5C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721F5BF3-B6B1-0AF3-A578-E28614F58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869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8b3994a781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90" name="Google Shape;690;g8b3994a781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de203a3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0" name="Google Shape;720;g8de203a3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8de203a35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72" name="Google Shape;772;g8de203a35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3" name="Google Shape;853;g8b3994a781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5" name="Google Shape;675;g8d4cbd36da_4_31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7772389" y="0"/>
            <a:ext cx="1371614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MAIN_POINT_1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27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9"/>
          <p:cNvSpPr/>
          <p:nvPr/>
        </p:nvSpPr>
        <p:spPr>
          <a:xfrm flipH="1">
            <a:off x="3" y="912525"/>
            <a:ext cx="3076570" cy="355301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"/>
          <p:cNvSpPr/>
          <p:nvPr/>
        </p:nvSpPr>
        <p:spPr>
          <a:xfrm flipH="1">
            <a:off x="29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"/>
          <p:cNvSpPr/>
          <p:nvPr/>
        </p:nvSpPr>
        <p:spPr>
          <a:xfrm flipH="1">
            <a:off x="1299941" y="3268775"/>
            <a:ext cx="490759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/>
          <p:cNvSpPr/>
          <p:nvPr/>
        </p:nvSpPr>
        <p:spPr>
          <a:xfrm flipH="1">
            <a:off x="13" y="3858250"/>
            <a:ext cx="1457311" cy="355322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flipH="1">
            <a:off x="7377202" y="3858250"/>
            <a:ext cx="1766704" cy="355322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flipH="1">
            <a:off x="7488607" y="2679300"/>
            <a:ext cx="165529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 flipH="1">
            <a:off x="3895732" y="323025"/>
            <a:ext cx="4819643" cy="355322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 flipH="1">
            <a:off x="2611243" y="4446200"/>
            <a:ext cx="6532757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094068" y="1123143"/>
            <a:ext cx="4955589" cy="3012341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277738" y="1545725"/>
            <a:ext cx="191018" cy="298421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674543" y="1545725"/>
            <a:ext cx="191443" cy="298421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508031" y="1516154"/>
            <a:ext cx="127236" cy="357955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1647812" y="3858250"/>
            <a:ext cx="1766688" cy="355322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67517" y="3268775"/>
            <a:ext cx="1246883" cy="355450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5729417" y="912525"/>
            <a:ext cx="985703" cy="355301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1600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CAPTION_ONLY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7928639" y="1"/>
            <a:ext cx="1215355" cy="402011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511525" y="783700"/>
            <a:ext cx="5632410" cy="2353867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5865073" y="3429550"/>
            <a:ext cx="1215342" cy="25966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8018936" y="3429550"/>
            <a:ext cx="1124989" cy="259686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7083824" y="3429550"/>
            <a:ext cx="259727" cy="25966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7496607" y="3429550"/>
            <a:ext cx="259707" cy="259686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_6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4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6200875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8318280" y="5018272"/>
            <a:ext cx="825726" cy="12523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6473454" y="5018272"/>
            <a:ext cx="1685830" cy="12523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031569" y="4810127"/>
            <a:ext cx="2520459" cy="125875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5564744" y="4810127"/>
            <a:ext cx="285486" cy="125875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4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 flipH="1">
            <a:off x="1299983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8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094075" y="1123150"/>
            <a:ext cx="4955589" cy="402045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5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0" y="2156637"/>
            <a:ext cx="2107897" cy="128764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107970" y="2156637"/>
            <a:ext cx="1115538" cy="12876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30892" y="2369856"/>
            <a:ext cx="1645026" cy="12876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1597826" y="2369856"/>
            <a:ext cx="478141" cy="12876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665754" y="2369856"/>
            <a:ext cx="557777" cy="12876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0" y="3222713"/>
            <a:ext cx="1472750" cy="128392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2202118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06772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2061089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856436" y="2796292"/>
            <a:ext cx="128376" cy="128749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41505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094800" y="2583074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191634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339573" y="3009138"/>
            <a:ext cx="1644653" cy="128749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339573" y="3009138"/>
            <a:ext cx="478156" cy="128749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0" y="3009510"/>
            <a:ext cx="749775" cy="128376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084687" y="3009138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879662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533979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338622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142891" y="3435558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3094800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676332" y="2583074"/>
            <a:ext cx="1314984" cy="12876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2267232" y="2796292"/>
            <a:ext cx="956281" cy="128749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41505" y="2796292"/>
            <a:ext cx="896384" cy="128749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0" y="2796292"/>
            <a:ext cx="449495" cy="128749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676332" y="3222340"/>
            <a:ext cx="1547157" cy="128764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522506" y="3435558"/>
            <a:ext cx="701019" cy="128764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0" y="2583074"/>
            <a:ext cx="1277773" cy="128764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812313" y="3435558"/>
            <a:ext cx="1562783" cy="128764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3223538" y="1474200"/>
            <a:ext cx="1086520" cy="2772465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15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7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70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FOOD LABEL ANALIZER</a:t>
            </a:r>
            <a:endParaRPr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dirty="0">
                <a:solidFill>
                  <a:schemeClr val="dk2"/>
                </a:solidFill>
              </a:rPr>
              <a:t>Бъдъщето на интелегентното разпознаване на храните</a:t>
            </a:r>
            <a:br>
              <a:rPr lang="ru-RU" sz="2100" dirty="0">
                <a:solidFill>
                  <a:schemeClr val="dk2"/>
                </a:solidFill>
              </a:rPr>
            </a:br>
            <a:r>
              <a:rPr lang="ru-RU" sz="2100" dirty="0">
                <a:solidFill>
                  <a:schemeClr val="dk2"/>
                </a:solidFill>
              </a:rPr>
              <a:t>Изготвил: Олександр Шамрай, 9А</a:t>
            </a:r>
            <a:endParaRPr sz="2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Съдържание на презентацията</a:t>
            </a:r>
            <a:endParaRPr dirty="0"/>
          </a:p>
        </p:txBody>
      </p:sp>
      <p:sp>
        <p:nvSpPr>
          <p:cNvPr id="348" name="Google Shape;348;p29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01</a:t>
            </a:r>
            <a:endParaRPr sz="3500" b="1"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latin typeface="Overpass Mono"/>
                <a:ea typeface="Overpass Mono"/>
                <a:cs typeface="Overpass Mono"/>
                <a:sym typeface="Overpass Mono"/>
              </a:rPr>
              <a:t>Проблемът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0" name="Google Shape;350;p29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/>
              <a:t>0</a:t>
            </a:r>
            <a:r>
              <a:rPr lang="ru-RU" sz="3500" b="1" dirty="0"/>
              <a:t>2</a:t>
            </a:r>
            <a:endParaRPr sz="3500" b="1" dirty="0"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latin typeface="Overpass Mono"/>
                <a:ea typeface="Overpass Mono"/>
                <a:cs typeface="Overpass Mono"/>
                <a:sym typeface="Overpass Mono"/>
              </a:rPr>
              <a:t>Как работи?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Технически детали</a:t>
            </a:r>
            <a:endParaRPr dirty="0"/>
          </a:p>
        </p:txBody>
      </p:sp>
      <p:sp>
        <p:nvSpPr>
          <p:cNvPr id="354" name="Google Shape;354;p29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Резултати и алтернативи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0"/>
      <p:bldP spid="349" grpId="0" build="p"/>
      <p:bldP spid="350" grpId="0"/>
      <p:bldP spid="351" grpId="0" build="p"/>
      <p:bldP spid="352" grpId="0"/>
      <p:bldP spid="353" grpId="0" build="p"/>
      <p:bldP spid="354" grpId="0"/>
      <p:bldP spid="3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>
            <a:spLocks noGrp="1"/>
          </p:cNvSpPr>
          <p:nvPr>
            <p:ph type="title"/>
          </p:nvPr>
        </p:nvSpPr>
        <p:spPr>
          <a:xfrm>
            <a:off x="2521800" y="3421947"/>
            <a:ext cx="4100400" cy="40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</a:t>
            </a:r>
            <a:r>
              <a:rPr lang="ru-RU" dirty="0"/>
              <a:t> Основна идея</a:t>
            </a:r>
            <a:endParaRPr dirty="0"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1"/>
          </p:nvPr>
        </p:nvSpPr>
        <p:spPr>
          <a:xfrm flipH="1">
            <a:off x="2521800" y="2384928"/>
            <a:ext cx="4100400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«Много потребители не разбират сложните химични имена на гърба на опаковката. Целта на проекта е да преведе тази информация на разбираем език и автоматично да открие скритите рискове»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/>
      <p:bldP spid="36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Какво търси алгоритм?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  <p:bldP spid="3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Какво търси алгоритма?</a:t>
            </a:r>
            <a:endParaRPr dirty="0"/>
          </a:p>
        </p:txBody>
      </p:sp>
      <p:sp>
        <p:nvSpPr>
          <p:cNvPr id="463" name="Google Shape;463;p37"/>
          <p:cNvSpPr txBox="1">
            <a:spLocks noGrp="1"/>
          </p:cNvSpPr>
          <p:nvPr>
            <p:ph type="subTitle" idx="1"/>
          </p:nvPr>
        </p:nvSpPr>
        <p:spPr>
          <a:xfrm flipH="1">
            <a:off x="5850673" y="1928650"/>
            <a:ext cx="3122342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Често се пише "натриев нитрит" вместо Е-код. Програмата е научена да хваща и 2-та варианта чрез търсене по ключови думи.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" name="Google Shape;464;p37"/>
          <p:cNvSpPr txBox="1">
            <a:spLocks noGrp="1"/>
          </p:cNvSpPr>
          <p:nvPr>
            <p:ph type="ctrTitle" idx="2"/>
          </p:nvPr>
        </p:nvSpPr>
        <p:spPr>
          <a:xfrm flipH="1">
            <a:off x="69563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Опасни Е-номера</a:t>
            </a:r>
            <a:endParaRPr dirty="0"/>
          </a:p>
        </p:txBody>
      </p:sp>
      <p:sp>
        <p:nvSpPr>
          <p:cNvPr id="465" name="Google Shape;465;p37"/>
          <p:cNvSpPr txBox="1">
            <a:spLocks noGrp="1"/>
          </p:cNvSpPr>
          <p:nvPr>
            <p:ph type="subTitle" idx="3"/>
          </p:nvPr>
        </p:nvSpPr>
        <p:spPr>
          <a:xfrm flipH="1">
            <a:off x="379141" y="1928650"/>
            <a:ext cx="2668859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Търсим консерванти и оцветители (Е202</a:t>
            </a:r>
            <a:r>
              <a:rPr lang="en-US" dirty="0"/>
              <a:t>,</a:t>
            </a:r>
            <a:r>
              <a:rPr lang="ru-RU" dirty="0"/>
              <a:t> Е250), които предизвикат алергии и други проблеми.</a:t>
            </a:r>
            <a:endParaRPr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subTitle" idx="5"/>
          </p:nvPr>
        </p:nvSpPr>
        <p:spPr>
          <a:xfrm flipH="1">
            <a:off x="3241286" y="1928650"/>
            <a:ext cx="2668859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Засичаме палмово масло и трансмазнини. Евтини са за индустрията, но дългосрочно вредни за здравето ни.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67" name="Google Shape;467;p37"/>
          <p:cNvGrpSpPr/>
          <p:nvPr/>
        </p:nvGrpSpPr>
        <p:grpSpPr>
          <a:xfrm>
            <a:off x="3851848" y="3053781"/>
            <a:ext cx="1440305" cy="2572929"/>
            <a:chOff x="3851848" y="2570562"/>
            <a:chExt cx="1440305" cy="2572929"/>
          </a:xfrm>
        </p:grpSpPr>
        <p:sp>
          <p:nvSpPr>
            <p:cNvPr id="468" name="Google Shape;468;p37"/>
            <p:cNvSpPr/>
            <p:nvPr/>
          </p:nvSpPr>
          <p:spPr>
            <a:xfrm>
              <a:off x="3851848" y="4010317"/>
              <a:ext cx="1440305" cy="719800"/>
            </a:xfrm>
            <a:custGeom>
              <a:avLst/>
              <a:gdLst/>
              <a:ahLst/>
              <a:cxnLst/>
              <a:rect l="l" t="t" r="r" b="b"/>
              <a:pathLst>
                <a:path w="45006" h="22492" extrusionOk="0">
                  <a:moveTo>
                    <a:pt x="11287" y="22492"/>
                  </a:moveTo>
                  <a:lnTo>
                    <a:pt x="0" y="1"/>
                  </a:lnTo>
                  <a:lnTo>
                    <a:pt x="45006" y="1"/>
                  </a:lnTo>
                  <a:lnTo>
                    <a:pt x="33778" y="22492"/>
                  </a:lnTo>
                  <a:close/>
                </a:path>
              </a:pathLst>
            </a:cu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4213029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22491" y="1"/>
                  </a:lnTo>
                  <a:lnTo>
                    <a:pt x="22491" y="12919"/>
                  </a:lnTo>
                  <a:lnTo>
                    <a:pt x="0" y="129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3851848" y="2570562"/>
              <a:ext cx="1440305" cy="1439920"/>
            </a:xfrm>
            <a:custGeom>
              <a:avLst/>
              <a:gdLst/>
              <a:ahLst/>
              <a:cxnLst/>
              <a:rect l="l" t="t" r="r" b="b"/>
              <a:pathLst>
                <a:path w="45006" h="44994" extrusionOk="0">
                  <a:moveTo>
                    <a:pt x="0" y="0"/>
                  </a:moveTo>
                  <a:lnTo>
                    <a:pt x="45006" y="0"/>
                  </a:lnTo>
                  <a:lnTo>
                    <a:pt x="45006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1007466" y="3053781"/>
            <a:ext cx="1798893" cy="2572929"/>
            <a:chOff x="1349436" y="2570562"/>
            <a:chExt cx="1798893" cy="2572929"/>
          </a:xfrm>
        </p:grpSpPr>
        <p:sp>
          <p:nvSpPr>
            <p:cNvPr id="472" name="Google Shape;472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428436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0" y="12919"/>
                  </a:lnTo>
                  <a:lnTo>
                    <a:pt x="22491" y="12919"/>
                  </a:lnTo>
                  <a:lnTo>
                    <a:pt x="22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349436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1" y="0"/>
                  </a:moveTo>
                  <a:lnTo>
                    <a:pt x="44995" y="0"/>
                  </a:lnTo>
                  <a:lnTo>
                    <a:pt x="44995" y="44994"/>
                  </a:lnTo>
                  <a:lnTo>
                    <a:pt x="1" y="449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7"/>
          <p:cNvGrpSpPr/>
          <p:nvPr/>
        </p:nvGrpSpPr>
        <p:grpSpPr>
          <a:xfrm>
            <a:off x="6419453" y="3053781"/>
            <a:ext cx="1798893" cy="2572929"/>
            <a:chOff x="5995705" y="2570562"/>
            <a:chExt cx="1798893" cy="2572929"/>
          </a:xfrm>
        </p:grpSpPr>
        <p:sp>
          <p:nvSpPr>
            <p:cNvPr id="477" name="Google Shape;477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354614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0" y="0"/>
                  </a:moveTo>
                  <a:lnTo>
                    <a:pt x="44994" y="0"/>
                  </a:lnTo>
                  <a:lnTo>
                    <a:pt x="44994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995705" y="4730018"/>
              <a:ext cx="720184" cy="413472"/>
            </a:xfrm>
            <a:custGeom>
              <a:avLst/>
              <a:gdLst/>
              <a:ahLst/>
              <a:cxnLst/>
              <a:rect l="l" t="t" r="r" b="b"/>
              <a:pathLst>
                <a:path w="22504" h="12920" extrusionOk="0">
                  <a:moveTo>
                    <a:pt x="1" y="1"/>
                  </a:moveTo>
                  <a:lnTo>
                    <a:pt x="22503" y="1"/>
                  </a:lnTo>
                  <a:lnTo>
                    <a:pt x="22503" y="12919"/>
                  </a:lnTo>
                  <a:lnTo>
                    <a:pt x="1" y="129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7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Вредни мазнини</a:t>
            </a:r>
            <a:endParaRPr dirty="0"/>
          </a:p>
        </p:txBody>
      </p:sp>
      <p:sp>
        <p:nvSpPr>
          <p:cNvPr id="482" name="Google Shape;482;p37"/>
          <p:cNvSpPr txBox="1">
            <a:spLocks noGrp="1"/>
          </p:cNvSpPr>
          <p:nvPr>
            <p:ph type="ctrTitle" idx="8"/>
          </p:nvPr>
        </p:nvSpPr>
        <p:spPr>
          <a:xfrm flipH="1">
            <a:off x="646571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Скрити имена</a:t>
            </a:r>
            <a:endParaRPr dirty="0"/>
          </a:p>
        </p:txBody>
      </p:sp>
      <p:grpSp>
        <p:nvGrpSpPr>
          <p:cNvPr id="483" name="Google Shape;483;p37"/>
          <p:cNvGrpSpPr/>
          <p:nvPr/>
        </p:nvGrpSpPr>
        <p:grpSpPr>
          <a:xfrm>
            <a:off x="1299452" y="3386468"/>
            <a:ext cx="858761" cy="774103"/>
            <a:chOff x="-2128678" y="-581024"/>
            <a:chExt cx="858761" cy="774103"/>
          </a:xfrm>
        </p:grpSpPr>
        <p:sp>
          <p:nvSpPr>
            <p:cNvPr id="484" name="Google Shape;484;p37"/>
            <p:cNvSpPr/>
            <p:nvPr/>
          </p:nvSpPr>
          <p:spPr>
            <a:xfrm>
              <a:off x="-2128678" y="-581024"/>
              <a:ext cx="555721" cy="774103"/>
            </a:xfrm>
            <a:custGeom>
              <a:avLst/>
              <a:gdLst/>
              <a:ahLst/>
              <a:cxnLst/>
              <a:rect l="l" t="t" r="r" b="b"/>
              <a:pathLst>
                <a:path w="14052" h="19574" extrusionOk="0">
                  <a:moveTo>
                    <a:pt x="7026" y="13540"/>
                  </a:moveTo>
                  <a:cubicBezTo>
                    <a:pt x="7708" y="13540"/>
                    <a:pt x="8267" y="14098"/>
                    <a:pt x="8267" y="14796"/>
                  </a:cubicBezTo>
                  <a:cubicBezTo>
                    <a:pt x="8267" y="15199"/>
                    <a:pt x="8081" y="15572"/>
                    <a:pt x="7770" y="15789"/>
                  </a:cubicBezTo>
                  <a:lnTo>
                    <a:pt x="7770" y="16657"/>
                  </a:lnTo>
                  <a:cubicBezTo>
                    <a:pt x="7770" y="17076"/>
                    <a:pt x="7429" y="17402"/>
                    <a:pt x="7026" y="17402"/>
                  </a:cubicBezTo>
                  <a:cubicBezTo>
                    <a:pt x="6607" y="17402"/>
                    <a:pt x="6266" y="17076"/>
                    <a:pt x="6266" y="16657"/>
                  </a:cubicBezTo>
                  <a:lnTo>
                    <a:pt x="6266" y="15789"/>
                  </a:lnTo>
                  <a:cubicBezTo>
                    <a:pt x="5971" y="15572"/>
                    <a:pt x="5770" y="15199"/>
                    <a:pt x="5770" y="14796"/>
                  </a:cubicBezTo>
                  <a:cubicBezTo>
                    <a:pt x="5770" y="14098"/>
                    <a:pt x="6328" y="13540"/>
                    <a:pt x="7026" y="13540"/>
                  </a:cubicBezTo>
                  <a:close/>
                  <a:moveTo>
                    <a:pt x="6468" y="0"/>
                  </a:moveTo>
                  <a:cubicBezTo>
                    <a:pt x="3800" y="0"/>
                    <a:pt x="1629" y="2187"/>
                    <a:pt x="1629" y="4855"/>
                  </a:cubicBezTo>
                  <a:lnTo>
                    <a:pt x="1629" y="7708"/>
                  </a:lnTo>
                  <a:lnTo>
                    <a:pt x="1086" y="7708"/>
                  </a:lnTo>
                  <a:cubicBezTo>
                    <a:pt x="481" y="7708"/>
                    <a:pt x="0" y="8189"/>
                    <a:pt x="0" y="8794"/>
                  </a:cubicBezTo>
                  <a:lnTo>
                    <a:pt x="0" y="18487"/>
                  </a:lnTo>
                  <a:cubicBezTo>
                    <a:pt x="0" y="19092"/>
                    <a:pt x="481" y="19573"/>
                    <a:pt x="1086" y="19573"/>
                  </a:cubicBezTo>
                  <a:lnTo>
                    <a:pt x="12951" y="19573"/>
                  </a:lnTo>
                  <a:cubicBezTo>
                    <a:pt x="13555" y="19573"/>
                    <a:pt x="14052" y="19092"/>
                    <a:pt x="14052" y="18487"/>
                  </a:cubicBezTo>
                  <a:lnTo>
                    <a:pt x="14052" y="13261"/>
                  </a:lnTo>
                  <a:lnTo>
                    <a:pt x="14052" y="11803"/>
                  </a:lnTo>
                  <a:lnTo>
                    <a:pt x="12594" y="11803"/>
                  </a:lnTo>
                  <a:lnTo>
                    <a:pt x="12594" y="10345"/>
                  </a:lnTo>
                  <a:lnTo>
                    <a:pt x="11136" y="10345"/>
                  </a:lnTo>
                  <a:lnTo>
                    <a:pt x="11136" y="8949"/>
                  </a:lnTo>
                  <a:lnTo>
                    <a:pt x="10484" y="8949"/>
                  </a:lnTo>
                  <a:lnTo>
                    <a:pt x="10484" y="7708"/>
                  </a:lnTo>
                  <a:lnTo>
                    <a:pt x="4777" y="7708"/>
                  </a:lnTo>
                  <a:lnTo>
                    <a:pt x="4777" y="4855"/>
                  </a:lnTo>
                  <a:cubicBezTo>
                    <a:pt x="4777" y="3924"/>
                    <a:pt x="5537" y="3164"/>
                    <a:pt x="6468" y="3164"/>
                  </a:cubicBezTo>
                  <a:lnTo>
                    <a:pt x="7569" y="3164"/>
                  </a:lnTo>
                  <a:cubicBezTo>
                    <a:pt x="8499" y="3164"/>
                    <a:pt x="9259" y="3924"/>
                    <a:pt x="9259" y="4855"/>
                  </a:cubicBezTo>
                  <a:lnTo>
                    <a:pt x="9259" y="5537"/>
                  </a:lnTo>
                  <a:lnTo>
                    <a:pt x="12423" y="5537"/>
                  </a:lnTo>
                  <a:lnTo>
                    <a:pt x="12423" y="4855"/>
                  </a:lnTo>
                  <a:cubicBezTo>
                    <a:pt x="12423" y="2187"/>
                    <a:pt x="10236" y="0"/>
                    <a:pt x="7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-1572978" y="-171927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-1515316" y="-285987"/>
              <a:ext cx="114134" cy="114095"/>
            </a:xfrm>
            <a:custGeom>
              <a:avLst/>
              <a:gdLst/>
              <a:ahLst/>
              <a:cxnLst/>
              <a:rect l="l" t="t" r="r" b="b"/>
              <a:pathLst>
                <a:path w="2886" h="2885" extrusionOk="0">
                  <a:moveTo>
                    <a:pt x="1427" y="0"/>
                  </a:moveTo>
                  <a:lnTo>
                    <a:pt x="1427" y="1427"/>
                  </a:lnTo>
                  <a:lnTo>
                    <a:pt x="1" y="1427"/>
                  </a:lnTo>
                  <a:lnTo>
                    <a:pt x="1" y="2885"/>
                  </a:lnTo>
                  <a:lnTo>
                    <a:pt x="1458" y="2885"/>
                  </a:lnTo>
                  <a:lnTo>
                    <a:pt x="1458" y="1458"/>
                  </a:lnTo>
                  <a:lnTo>
                    <a:pt x="2885" y="1458"/>
                  </a:lnTo>
                  <a:lnTo>
                    <a:pt x="2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-1516542" y="-343649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-1630640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-1458287" y="-171294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-1342962" y="-127118"/>
              <a:ext cx="57700" cy="58293"/>
            </a:xfrm>
            <a:custGeom>
              <a:avLst/>
              <a:gdLst/>
              <a:ahLst/>
              <a:cxnLst/>
              <a:rect l="l" t="t" r="r" b="b"/>
              <a:pathLst>
                <a:path w="1459" h="1474" extrusionOk="0">
                  <a:moveTo>
                    <a:pt x="1" y="0"/>
                  </a:moveTo>
                  <a:lnTo>
                    <a:pt x="1" y="1474"/>
                  </a:lnTo>
                  <a:lnTo>
                    <a:pt x="1459" y="1474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-1400625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-1327617" y="-302558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-1384054" y="-409301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4123000" y="3395968"/>
            <a:ext cx="898027" cy="755103"/>
            <a:chOff x="-3420500" y="-562633"/>
            <a:chExt cx="898027" cy="755103"/>
          </a:xfrm>
        </p:grpSpPr>
        <p:sp>
          <p:nvSpPr>
            <p:cNvPr id="495" name="Google Shape;495;p37"/>
            <p:cNvSpPr/>
            <p:nvPr/>
          </p:nvSpPr>
          <p:spPr>
            <a:xfrm>
              <a:off x="-3251785" y="-284761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12"/>
                    <a:pt x="0" y="1148"/>
                  </a:cubicBezTo>
                  <a:cubicBezTo>
                    <a:pt x="0" y="1784"/>
                    <a:pt x="512" y="2296"/>
                    <a:pt x="1148" y="2296"/>
                  </a:cubicBezTo>
                  <a:cubicBezTo>
                    <a:pt x="1784" y="2296"/>
                    <a:pt x="2295" y="1784"/>
                    <a:pt x="2295" y="1148"/>
                  </a:cubicBezTo>
                  <a:cubicBezTo>
                    <a:pt x="2295" y="512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-3119929" y="-276811"/>
              <a:ext cx="380328" cy="74863"/>
            </a:xfrm>
            <a:custGeom>
              <a:avLst/>
              <a:gdLst/>
              <a:ahLst/>
              <a:cxnLst/>
              <a:rect l="l" t="t" r="r" b="b"/>
              <a:pathLst>
                <a:path w="9617" h="1893" extrusionOk="0">
                  <a:moveTo>
                    <a:pt x="947" y="1"/>
                  </a:moveTo>
                  <a:cubicBezTo>
                    <a:pt x="419" y="1"/>
                    <a:pt x="1" y="435"/>
                    <a:pt x="1" y="947"/>
                  </a:cubicBezTo>
                  <a:cubicBezTo>
                    <a:pt x="1" y="1474"/>
                    <a:pt x="419" y="1893"/>
                    <a:pt x="947" y="1893"/>
                  </a:cubicBezTo>
                  <a:lnTo>
                    <a:pt x="8686" y="1893"/>
                  </a:lnTo>
                  <a:cubicBezTo>
                    <a:pt x="9198" y="1893"/>
                    <a:pt x="9617" y="1474"/>
                    <a:pt x="9617" y="947"/>
                  </a:cubicBezTo>
                  <a:cubicBezTo>
                    <a:pt x="9617" y="435"/>
                    <a:pt x="9198" y="1"/>
                    <a:pt x="8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-3251785" y="-135700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27"/>
                    <a:pt x="0" y="1148"/>
                  </a:cubicBezTo>
                  <a:cubicBezTo>
                    <a:pt x="0" y="1784"/>
                    <a:pt x="512" y="2295"/>
                    <a:pt x="1148" y="2295"/>
                  </a:cubicBezTo>
                  <a:cubicBezTo>
                    <a:pt x="1784" y="2295"/>
                    <a:pt x="2295" y="1784"/>
                    <a:pt x="2295" y="1148"/>
                  </a:cubicBezTo>
                  <a:cubicBezTo>
                    <a:pt x="2295" y="527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-3119929" y="-127118"/>
              <a:ext cx="380328" cy="74231"/>
            </a:xfrm>
            <a:custGeom>
              <a:avLst/>
              <a:gdLst/>
              <a:ahLst/>
              <a:cxnLst/>
              <a:rect l="l" t="t" r="r" b="b"/>
              <a:pathLst>
                <a:path w="9617" h="1877" extrusionOk="0">
                  <a:moveTo>
                    <a:pt x="947" y="0"/>
                  </a:moveTo>
                  <a:cubicBezTo>
                    <a:pt x="419" y="0"/>
                    <a:pt x="1" y="419"/>
                    <a:pt x="1" y="931"/>
                  </a:cubicBezTo>
                  <a:cubicBezTo>
                    <a:pt x="1" y="1458"/>
                    <a:pt x="419" y="1877"/>
                    <a:pt x="947" y="1877"/>
                  </a:cubicBezTo>
                  <a:lnTo>
                    <a:pt x="8686" y="1877"/>
                  </a:lnTo>
                  <a:cubicBezTo>
                    <a:pt x="9198" y="1877"/>
                    <a:pt x="9617" y="1458"/>
                    <a:pt x="9617" y="931"/>
                  </a:cubicBezTo>
                  <a:cubicBezTo>
                    <a:pt x="9617" y="419"/>
                    <a:pt x="9198" y="0"/>
                    <a:pt x="8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-2754973" y="-30222"/>
              <a:ext cx="232500" cy="222692"/>
            </a:xfrm>
            <a:custGeom>
              <a:avLst/>
              <a:gdLst/>
              <a:ahLst/>
              <a:cxnLst/>
              <a:rect l="l" t="t" r="r" b="b"/>
              <a:pathLst>
                <a:path w="5879" h="5631" extrusionOk="0">
                  <a:moveTo>
                    <a:pt x="1381" y="1"/>
                  </a:moveTo>
                  <a:cubicBezTo>
                    <a:pt x="1055" y="1"/>
                    <a:pt x="730" y="125"/>
                    <a:pt x="497" y="357"/>
                  </a:cubicBezTo>
                  <a:cubicBezTo>
                    <a:pt x="1" y="854"/>
                    <a:pt x="1" y="1645"/>
                    <a:pt x="497" y="2141"/>
                  </a:cubicBezTo>
                  <a:lnTo>
                    <a:pt x="1164" y="2808"/>
                  </a:lnTo>
                  <a:lnTo>
                    <a:pt x="497" y="3475"/>
                  </a:lnTo>
                  <a:cubicBezTo>
                    <a:pt x="1" y="3971"/>
                    <a:pt x="1" y="4762"/>
                    <a:pt x="497" y="5258"/>
                  </a:cubicBezTo>
                  <a:cubicBezTo>
                    <a:pt x="730" y="5491"/>
                    <a:pt x="1055" y="5631"/>
                    <a:pt x="1381" y="5631"/>
                  </a:cubicBezTo>
                  <a:cubicBezTo>
                    <a:pt x="1722" y="5631"/>
                    <a:pt x="2033" y="5491"/>
                    <a:pt x="2281" y="5258"/>
                  </a:cubicBezTo>
                  <a:lnTo>
                    <a:pt x="2948" y="4591"/>
                  </a:lnTo>
                  <a:lnTo>
                    <a:pt x="3615" y="5258"/>
                  </a:lnTo>
                  <a:cubicBezTo>
                    <a:pt x="3847" y="5491"/>
                    <a:pt x="4157" y="5631"/>
                    <a:pt x="4499" y="5631"/>
                  </a:cubicBezTo>
                  <a:cubicBezTo>
                    <a:pt x="4840" y="5631"/>
                    <a:pt x="5150" y="5491"/>
                    <a:pt x="5383" y="5258"/>
                  </a:cubicBezTo>
                  <a:cubicBezTo>
                    <a:pt x="5879" y="4762"/>
                    <a:pt x="5879" y="3971"/>
                    <a:pt x="5383" y="3475"/>
                  </a:cubicBezTo>
                  <a:lnTo>
                    <a:pt x="4716" y="2808"/>
                  </a:lnTo>
                  <a:lnTo>
                    <a:pt x="5383" y="2141"/>
                  </a:lnTo>
                  <a:cubicBezTo>
                    <a:pt x="5879" y="1645"/>
                    <a:pt x="5879" y="854"/>
                    <a:pt x="5383" y="357"/>
                  </a:cubicBezTo>
                  <a:cubicBezTo>
                    <a:pt x="5150" y="125"/>
                    <a:pt x="4840" y="1"/>
                    <a:pt x="4499" y="1"/>
                  </a:cubicBezTo>
                  <a:cubicBezTo>
                    <a:pt x="4157" y="1"/>
                    <a:pt x="3847" y="125"/>
                    <a:pt x="3615" y="357"/>
                  </a:cubicBezTo>
                  <a:lnTo>
                    <a:pt x="2948" y="1024"/>
                  </a:lnTo>
                  <a:lnTo>
                    <a:pt x="2281" y="357"/>
                  </a:lnTo>
                  <a:cubicBezTo>
                    <a:pt x="2033" y="125"/>
                    <a:pt x="1722" y="1"/>
                    <a:pt x="1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-3420500" y="-562633"/>
              <a:ext cx="812780" cy="670449"/>
            </a:xfrm>
            <a:custGeom>
              <a:avLst/>
              <a:gdLst/>
              <a:ahLst/>
              <a:cxnLst/>
              <a:rect l="l" t="t" r="r" b="b"/>
              <a:pathLst>
                <a:path w="20552" h="16953" extrusionOk="0">
                  <a:moveTo>
                    <a:pt x="621" y="0"/>
                  </a:moveTo>
                  <a:cubicBezTo>
                    <a:pt x="280" y="0"/>
                    <a:pt x="1" y="280"/>
                    <a:pt x="1" y="636"/>
                  </a:cubicBezTo>
                  <a:lnTo>
                    <a:pt x="1" y="16316"/>
                  </a:lnTo>
                  <a:cubicBezTo>
                    <a:pt x="1" y="16658"/>
                    <a:pt x="280" y="16952"/>
                    <a:pt x="621" y="16952"/>
                  </a:cubicBezTo>
                  <a:lnTo>
                    <a:pt x="15852" y="16952"/>
                  </a:lnTo>
                  <a:cubicBezTo>
                    <a:pt x="15945" y="16704"/>
                    <a:pt x="16069" y="16487"/>
                    <a:pt x="16239" y="16270"/>
                  </a:cubicBezTo>
                  <a:cubicBezTo>
                    <a:pt x="16100" y="16099"/>
                    <a:pt x="15976" y="15898"/>
                    <a:pt x="15898" y="15696"/>
                  </a:cubicBezTo>
                  <a:lnTo>
                    <a:pt x="1257" y="15696"/>
                  </a:lnTo>
                  <a:lnTo>
                    <a:pt x="1257" y="4839"/>
                  </a:lnTo>
                  <a:lnTo>
                    <a:pt x="19295" y="4839"/>
                  </a:lnTo>
                  <a:lnTo>
                    <a:pt x="19295" y="12439"/>
                  </a:lnTo>
                  <a:cubicBezTo>
                    <a:pt x="19465" y="12532"/>
                    <a:pt x="19620" y="12625"/>
                    <a:pt x="19776" y="12734"/>
                  </a:cubicBezTo>
                  <a:cubicBezTo>
                    <a:pt x="20008" y="12548"/>
                    <a:pt x="20272" y="12408"/>
                    <a:pt x="20551" y="12315"/>
                  </a:cubicBezTo>
                  <a:lnTo>
                    <a:pt x="20551" y="636"/>
                  </a:lnTo>
                  <a:cubicBezTo>
                    <a:pt x="20551" y="280"/>
                    <a:pt x="20272" y="0"/>
                    <a:pt x="19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1" name="Google Shape;501;p37"/>
          <p:cNvSpPr/>
          <p:nvPr/>
        </p:nvSpPr>
        <p:spPr>
          <a:xfrm>
            <a:off x="7067569" y="3409465"/>
            <a:ext cx="950761" cy="728109"/>
          </a:xfrm>
          <a:custGeom>
            <a:avLst/>
            <a:gdLst/>
            <a:ahLst/>
            <a:cxnLst/>
            <a:rect l="l" t="t" r="r" b="b"/>
            <a:pathLst>
              <a:path w="24041" h="18411" extrusionOk="0">
                <a:moveTo>
                  <a:pt x="23265" y="7972"/>
                </a:moveTo>
                <a:lnTo>
                  <a:pt x="23265" y="10454"/>
                </a:lnTo>
                <a:lnTo>
                  <a:pt x="16379" y="10454"/>
                </a:lnTo>
                <a:lnTo>
                  <a:pt x="16379" y="7972"/>
                </a:lnTo>
                <a:close/>
                <a:moveTo>
                  <a:pt x="19326" y="3288"/>
                </a:moveTo>
                <a:lnTo>
                  <a:pt x="19326" y="7197"/>
                </a:lnTo>
                <a:lnTo>
                  <a:pt x="15976" y="7197"/>
                </a:lnTo>
                <a:cubicBezTo>
                  <a:pt x="15774" y="7197"/>
                  <a:pt x="15603" y="7352"/>
                  <a:pt x="15603" y="7553"/>
                </a:cubicBezTo>
                <a:lnTo>
                  <a:pt x="15603" y="10857"/>
                </a:lnTo>
                <a:cubicBezTo>
                  <a:pt x="15603" y="11059"/>
                  <a:pt x="15774" y="11229"/>
                  <a:pt x="15976" y="11229"/>
                </a:cubicBezTo>
                <a:lnTo>
                  <a:pt x="19326" y="11229"/>
                </a:lnTo>
                <a:lnTo>
                  <a:pt x="19326" y="16208"/>
                </a:lnTo>
                <a:lnTo>
                  <a:pt x="10532" y="16208"/>
                </a:lnTo>
                <a:lnTo>
                  <a:pt x="10532" y="14750"/>
                </a:lnTo>
                <a:cubicBezTo>
                  <a:pt x="10532" y="14548"/>
                  <a:pt x="10361" y="14378"/>
                  <a:pt x="10160" y="14378"/>
                </a:cubicBezTo>
                <a:lnTo>
                  <a:pt x="5755" y="14378"/>
                </a:lnTo>
                <a:lnTo>
                  <a:pt x="5755" y="11229"/>
                </a:lnTo>
                <a:lnTo>
                  <a:pt x="10160" y="11229"/>
                </a:lnTo>
                <a:cubicBezTo>
                  <a:pt x="10361" y="11229"/>
                  <a:pt x="10532" y="11059"/>
                  <a:pt x="10532" y="10857"/>
                </a:cubicBezTo>
                <a:lnTo>
                  <a:pt x="10532" y="7553"/>
                </a:lnTo>
                <a:cubicBezTo>
                  <a:pt x="10532" y="7352"/>
                  <a:pt x="10361" y="7197"/>
                  <a:pt x="10160" y="7197"/>
                </a:cubicBezTo>
                <a:lnTo>
                  <a:pt x="5755" y="7197"/>
                </a:lnTo>
                <a:lnTo>
                  <a:pt x="5755" y="4033"/>
                </a:lnTo>
                <a:lnTo>
                  <a:pt x="10160" y="4033"/>
                </a:lnTo>
                <a:cubicBezTo>
                  <a:pt x="10361" y="4033"/>
                  <a:pt x="10532" y="3878"/>
                  <a:pt x="10532" y="3661"/>
                </a:cubicBezTo>
                <a:lnTo>
                  <a:pt x="10532" y="3288"/>
                </a:lnTo>
                <a:close/>
                <a:moveTo>
                  <a:pt x="373" y="0"/>
                </a:moveTo>
                <a:cubicBezTo>
                  <a:pt x="171" y="0"/>
                  <a:pt x="1" y="171"/>
                  <a:pt x="1" y="372"/>
                </a:cubicBezTo>
                <a:lnTo>
                  <a:pt x="1" y="3661"/>
                </a:lnTo>
                <a:cubicBezTo>
                  <a:pt x="1" y="3878"/>
                  <a:pt x="171" y="4033"/>
                  <a:pt x="373" y="4033"/>
                </a:cubicBezTo>
                <a:lnTo>
                  <a:pt x="4778" y="4033"/>
                </a:lnTo>
                <a:lnTo>
                  <a:pt x="4778" y="7197"/>
                </a:lnTo>
                <a:lnTo>
                  <a:pt x="373" y="7197"/>
                </a:lnTo>
                <a:cubicBezTo>
                  <a:pt x="171" y="7197"/>
                  <a:pt x="1" y="7352"/>
                  <a:pt x="1" y="7553"/>
                </a:cubicBezTo>
                <a:lnTo>
                  <a:pt x="1" y="10857"/>
                </a:lnTo>
                <a:cubicBezTo>
                  <a:pt x="1" y="11059"/>
                  <a:pt x="171" y="11229"/>
                  <a:pt x="373" y="11229"/>
                </a:cubicBezTo>
                <a:lnTo>
                  <a:pt x="4778" y="11229"/>
                </a:lnTo>
                <a:lnTo>
                  <a:pt x="4778" y="14378"/>
                </a:lnTo>
                <a:lnTo>
                  <a:pt x="373" y="14378"/>
                </a:lnTo>
                <a:cubicBezTo>
                  <a:pt x="171" y="14378"/>
                  <a:pt x="1" y="14548"/>
                  <a:pt x="1" y="14750"/>
                </a:cubicBezTo>
                <a:lnTo>
                  <a:pt x="1" y="18053"/>
                </a:lnTo>
                <a:cubicBezTo>
                  <a:pt x="1" y="18255"/>
                  <a:pt x="171" y="18410"/>
                  <a:pt x="373" y="18410"/>
                </a:cubicBezTo>
                <a:lnTo>
                  <a:pt x="10160" y="18410"/>
                </a:lnTo>
                <a:cubicBezTo>
                  <a:pt x="10361" y="18410"/>
                  <a:pt x="10532" y="18255"/>
                  <a:pt x="10532" y="18053"/>
                </a:cubicBezTo>
                <a:lnTo>
                  <a:pt x="10532" y="17185"/>
                </a:lnTo>
                <a:lnTo>
                  <a:pt x="19822" y="17185"/>
                </a:lnTo>
                <a:cubicBezTo>
                  <a:pt x="20101" y="17185"/>
                  <a:pt x="20318" y="16968"/>
                  <a:pt x="20318" y="16704"/>
                </a:cubicBezTo>
                <a:lnTo>
                  <a:pt x="20318" y="11229"/>
                </a:lnTo>
                <a:lnTo>
                  <a:pt x="23668" y="11229"/>
                </a:lnTo>
                <a:cubicBezTo>
                  <a:pt x="23870" y="11229"/>
                  <a:pt x="24041" y="11059"/>
                  <a:pt x="24041" y="10857"/>
                </a:cubicBezTo>
                <a:lnTo>
                  <a:pt x="24041" y="7553"/>
                </a:lnTo>
                <a:cubicBezTo>
                  <a:pt x="24041" y="7352"/>
                  <a:pt x="23870" y="7197"/>
                  <a:pt x="23668" y="7197"/>
                </a:cubicBezTo>
                <a:lnTo>
                  <a:pt x="20318" y="7197"/>
                </a:lnTo>
                <a:lnTo>
                  <a:pt x="20318" y="2792"/>
                </a:lnTo>
                <a:cubicBezTo>
                  <a:pt x="20318" y="2513"/>
                  <a:pt x="20101" y="2296"/>
                  <a:pt x="19822" y="2296"/>
                </a:cubicBezTo>
                <a:lnTo>
                  <a:pt x="10532" y="2296"/>
                </a:lnTo>
                <a:lnTo>
                  <a:pt x="10532" y="372"/>
                </a:lnTo>
                <a:cubicBezTo>
                  <a:pt x="10532" y="171"/>
                  <a:pt x="10361" y="0"/>
                  <a:pt x="10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" grpId="0"/>
      <p:bldP spid="464" grpId="0"/>
      <p:bldP spid="465" grpId="0" build="p"/>
      <p:bldP spid="466" grpId="0" build="p"/>
      <p:bldP spid="481" grpId="0"/>
      <p:bldP spid="4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DA9858C4-A439-DB33-FA76-8079D0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A3CD0C7F-5FDD-9A06-182F-4269E5079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Начин на работа на алгоритма</a:t>
            </a:r>
            <a:r>
              <a:rPr lang="en-US" dirty="0"/>
              <a:t> </a:t>
            </a:r>
            <a:r>
              <a:rPr lang="ru-RU" dirty="0"/>
              <a:t>и структура на програмата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21C0C60C-A70E-AA9A-7264-2F25FC238A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350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  <p:bldP spid="3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1278050" y="123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Начин на работа на алгоритъма</a:t>
            </a:r>
            <a:endParaRPr dirty="0"/>
          </a:p>
        </p:txBody>
      </p:sp>
      <p:sp>
        <p:nvSpPr>
          <p:cNvPr id="387" name="Google Shape;387;p34"/>
          <p:cNvSpPr/>
          <p:nvPr/>
        </p:nvSpPr>
        <p:spPr>
          <a:xfrm flipH="1">
            <a:off x="8245671" y="1502829"/>
            <a:ext cx="407895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4"/>
          <p:cNvSpPr/>
          <p:nvPr/>
        </p:nvSpPr>
        <p:spPr>
          <a:xfrm flipH="1">
            <a:off x="801051" y="3751106"/>
            <a:ext cx="218403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4"/>
          <p:cNvSpPr/>
          <p:nvPr/>
        </p:nvSpPr>
        <p:spPr>
          <a:xfrm flipH="1">
            <a:off x="695539" y="1799654"/>
            <a:ext cx="323913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8079269" y="3751106"/>
            <a:ext cx="407888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4"/>
          <p:cNvSpPr/>
          <p:nvPr/>
        </p:nvSpPr>
        <p:spPr>
          <a:xfrm flipH="1">
            <a:off x="8076236" y="1799654"/>
            <a:ext cx="218409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4"/>
          <p:cNvSpPr/>
          <p:nvPr/>
        </p:nvSpPr>
        <p:spPr>
          <a:xfrm flipH="1">
            <a:off x="250486" y="2097379"/>
            <a:ext cx="471489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4"/>
          <p:cNvSpPr/>
          <p:nvPr/>
        </p:nvSpPr>
        <p:spPr>
          <a:xfrm rot="-5400000" flipH="1">
            <a:off x="946925" y="1502829"/>
            <a:ext cx="773400" cy="77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4"/>
          <p:cNvSpPr txBox="1">
            <a:spLocks noGrp="1"/>
          </p:cNvSpPr>
          <p:nvPr>
            <p:ph type="ctrTitle"/>
          </p:nvPr>
        </p:nvSpPr>
        <p:spPr>
          <a:xfrm flipH="1">
            <a:off x="1879432" y="1448254"/>
            <a:ext cx="2752041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Получаване на изображение</a:t>
            </a:r>
            <a:endParaRPr dirty="0"/>
          </a:p>
        </p:txBody>
      </p:sp>
      <p:sp>
        <p:nvSpPr>
          <p:cNvPr id="395" name="Google Shape;395;p34"/>
          <p:cNvSpPr txBox="1">
            <a:spLocks noGrp="1"/>
          </p:cNvSpPr>
          <p:nvPr>
            <p:ph type="ctrTitle" idx="2"/>
          </p:nvPr>
        </p:nvSpPr>
        <p:spPr>
          <a:xfrm flipH="1">
            <a:off x="5056154" y="1448331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Извличане на текст</a:t>
            </a:r>
            <a:r>
              <a:rPr lang="en" dirty="0"/>
              <a:t>        </a:t>
            </a:r>
            <a:endParaRPr dirty="0"/>
          </a:p>
        </p:txBody>
      </p:sp>
      <p:sp>
        <p:nvSpPr>
          <p:cNvPr id="396" name="Google Shape;396;p34"/>
          <p:cNvSpPr txBox="1">
            <a:spLocks noGrp="1"/>
          </p:cNvSpPr>
          <p:nvPr>
            <p:ph type="subTitle" idx="1"/>
          </p:nvPr>
        </p:nvSpPr>
        <p:spPr>
          <a:xfrm flipH="1">
            <a:off x="4771866" y="1881103"/>
            <a:ext cx="2448174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EasyOCR разпознава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текста от снимката и го превръща в обикновен текст, който се анализира.</a:t>
            </a:r>
            <a:endParaRPr dirty="0"/>
          </a:p>
        </p:txBody>
      </p:sp>
      <p:sp>
        <p:nvSpPr>
          <p:cNvPr id="397" name="Google Shape;397;p34"/>
          <p:cNvSpPr txBox="1">
            <a:spLocks noGrp="1"/>
          </p:cNvSpPr>
          <p:nvPr>
            <p:ph type="ctrTitle" idx="3"/>
          </p:nvPr>
        </p:nvSpPr>
        <p:spPr>
          <a:xfrm flipH="1">
            <a:off x="1879426" y="3408431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Обработка на текста</a:t>
            </a:r>
            <a:endParaRPr dirty="0"/>
          </a:p>
        </p:txBody>
      </p:sp>
      <p:sp>
        <p:nvSpPr>
          <p:cNvPr id="398" name="Google Shape;398;p34"/>
          <p:cNvSpPr txBox="1">
            <a:spLocks noGrp="1"/>
          </p:cNvSpPr>
          <p:nvPr>
            <p:ph type="subTitle" idx="4"/>
          </p:nvPr>
        </p:nvSpPr>
        <p:spPr>
          <a:xfrm flipH="1">
            <a:off x="1879425" y="3838681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Алгоритъмът премахва част от грешките при разчитането и търси Е-номера, химични имена и ключови думи.</a:t>
            </a:r>
            <a:endParaRPr dirty="0"/>
          </a:p>
        </p:txBody>
      </p:sp>
      <p:sp>
        <p:nvSpPr>
          <p:cNvPr id="399" name="Google Shape;399;p34"/>
          <p:cNvSpPr txBox="1">
            <a:spLocks noGrp="1"/>
          </p:cNvSpPr>
          <p:nvPr>
            <p:ph type="ctrTitle" idx="5"/>
          </p:nvPr>
        </p:nvSpPr>
        <p:spPr>
          <a:xfrm flipH="1">
            <a:off x="4874460" y="3408510"/>
            <a:ext cx="2345606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Показване на резултатите</a:t>
            </a:r>
            <a:endParaRPr dirty="0"/>
          </a:p>
        </p:txBody>
      </p:sp>
      <p:sp>
        <p:nvSpPr>
          <p:cNvPr id="400" name="Google Shape;400;p34"/>
          <p:cNvSpPr txBox="1">
            <a:spLocks noGrp="1"/>
          </p:cNvSpPr>
          <p:nvPr>
            <p:ph type="subTitle" idx="6"/>
          </p:nvPr>
        </p:nvSpPr>
        <p:spPr>
          <a:xfrm flipH="1">
            <a:off x="4913691" y="3838681"/>
            <a:ext cx="230635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Показват се откритите рискови съставки, кратко обяснение и предлагат се по-здравословни алтернативи.</a:t>
            </a:r>
            <a:endParaRPr dirty="0"/>
          </a:p>
        </p:txBody>
      </p:sp>
      <p:sp>
        <p:nvSpPr>
          <p:cNvPr id="401" name="Google Shape;401;p34"/>
          <p:cNvSpPr/>
          <p:nvPr/>
        </p:nvSpPr>
        <p:spPr>
          <a:xfrm>
            <a:off x="7361891" y="1502829"/>
            <a:ext cx="773400" cy="7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4"/>
          <p:cNvSpPr/>
          <p:nvPr/>
        </p:nvSpPr>
        <p:spPr>
          <a:xfrm rot="10800000" flipH="1">
            <a:off x="946925" y="3454281"/>
            <a:ext cx="773400" cy="7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8277140" y="3453431"/>
            <a:ext cx="471506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8592800" y="3751105"/>
            <a:ext cx="377605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8291891" y="4048831"/>
            <a:ext cx="300908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4"/>
          <p:cNvSpPr/>
          <p:nvPr/>
        </p:nvSpPr>
        <p:spPr>
          <a:xfrm rot="5400000">
            <a:off x="7361891" y="3454281"/>
            <a:ext cx="773400" cy="77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4"/>
          <p:cNvSpPr/>
          <p:nvPr/>
        </p:nvSpPr>
        <p:spPr>
          <a:xfrm flipH="1">
            <a:off x="341961" y="3454281"/>
            <a:ext cx="488864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"/>
          <p:cNvSpPr/>
          <p:nvPr/>
        </p:nvSpPr>
        <p:spPr>
          <a:xfrm flipH="1">
            <a:off x="127733" y="3751106"/>
            <a:ext cx="570167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 flipH="1">
            <a:off x="490781" y="4048831"/>
            <a:ext cx="323894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4"/>
          <p:cNvSpPr/>
          <p:nvPr/>
        </p:nvSpPr>
        <p:spPr>
          <a:xfrm flipH="1">
            <a:off x="127785" y="1502829"/>
            <a:ext cx="703042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4"/>
          <p:cNvSpPr/>
          <p:nvPr/>
        </p:nvSpPr>
        <p:spPr>
          <a:xfrm flipH="1">
            <a:off x="396629" y="1800079"/>
            <a:ext cx="178816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4"/>
          <p:cNvSpPr/>
          <p:nvPr/>
        </p:nvSpPr>
        <p:spPr>
          <a:xfrm flipH="1">
            <a:off x="8487157" y="1799653"/>
            <a:ext cx="570173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4"/>
          <p:cNvSpPr/>
          <p:nvPr/>
        </p:nvSpPr>
        <p:spPr>
          <a:xfrm flipH="1">
            <a:off x="8272627" y="2097379"/>
            <a:ext cx="471489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4"/>
          <p:cNvSpPr txBox="1">
            <a:spLocks noGrp="1"/>
          </p:cNvSpPr>
          <p:nvPr>
            <p:ph type="subTitle" idx="8"/>
          </p:nvPr>
        </p:nvSpPr>
        <p:spPr>
          <a:xfrm flipH="1">
            <a:off x="1879433" y="1881101"/>
            <a:ext cx="2521582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ru-RU" dirty="0"/>
              <a:t>Потребителят качва снимка на етикет или използва камерата. Изображението се подготвя за разчитане.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34"/>
          <p:cNvSpPr/>
          <p:nvPr/>
        </p:nvSpPr>
        <p:spPr>
          <a:xfrm>
            <a:off x="1103022" y="3610560"/>
            <a:ext cx="461206" cy="460842"/>
          </a:xfrm>
          <a:custGeom>
            <a:avLst/>
            <a:gdLst/>
            <a:ahLst/>
            <a:cxnLst/>
            <a:rect l="l" t="t" r="r" b="b"/>
            <a:pathLst>
              <a:path w="15205" h="15193" extrusionOk="0">
                <a:moveTo>
                  <a:pt x="10109" y="4501"/>
                </a:moveTo>
                <a:cubicBezTo>
                  <a:pt x="10430" y="4501"/>
                  <a:pt x="10692" y="4763"/>
                  <a:pt x="10692" y="5096"/>
                </a:cubicBezTo>
                <a:lnTo>
                  <a:pt x="10692" y="10097"/>
                </a:lnTo>
                <a:cubicBezTo>
                  <a:pt x="10692" y="10418"/>
                  <a:pt x="10430" y="10692"/>
                  <a:pt x="10109" y="10692"/>
                </a:cubicBezTo>
                <a:lnTo>
                  <a:pt x="5096" y="10692"/>
                </a:lnTo>
                <a:cubicBezTo>
                  <a:pt x="4775" y="10692"/>
                  <a:pt x="4513" y="10418"/>
                  <a:pt x="4513" y="10097"/>
                </a:cubicBezTo>
                <a:lnTo>
                  <a:pt x="4513" y="5096"/>
                </a:lnTo>
                <a:cubicBezTo>
                  <a:pt x="4513" y="4763"/>
                  <a:pt x="4775" y="4501"/>
                  <a:pt x="5096" y="4501"/>
                </a:cubicBezTo>
                <a:close/>
                <a:moveTo>
                  <a:pt x="4584" y="1"/>
                </a:moveTo>
                <a:cubicBezTo>
                  <a:pt x="4215" y="1"/>
                  <a:pt x="3918" y="298"/>
                  <a:pt x="3918" y="667"/>
                </a:cubicBezTo>
                <a:lnTo>
                  <a:pt x="3918" y="2001"/>
                </a:lnTo>
                <a:lnTo>
                  <a:pt x="3072" y="2001"/>
                </a:lnTo>
                <a:cubicBezTo>
                  <a:pt x="2477" y="2001"/>
                  <a:pt x="2001" y="2477"/>
                  <a:pt x="2001" y="3060"/>
                </a:cubicBezTo>
                <a:lnTo>
                  <a:pt x="2001" y="3906"/>
                </a:lnTo>
                <a:lnTo>
                  <a:pt x="667" y="3906"/>
                </a:lnTo>
                <a:cubicBezTo>
                  <a:pt x="298" y="3906"/>
                  <a:pt x="1" y="4203"/>
                  <a:pt x="1" y="4573"/>
                </a:cubicBezTo>
                <a:cubicBezTo>
                  <a:pt x="1" y="4942"/>
                  <a:pt x="298" y="5239"/>
                  <a:pt x="667" y="5239"/>
                </a:cubicBezTo>
                <a:lnTo>
                  <a:pt x="2001" y="5239"/>
                </a:lnTo>
                <a:lnTo>
                  <a:pt x="2001" y="6930"/>
                </a:lnTo>
                <a:lnTo>
                  <a:pt x="667" y="6930"/>
                </a:lnTo>
                <a:cubicBezTo>
                  <a:pt x="298" y="6930"/>
                  <a:pt x="1" y="7228"/>
                  <a:pt x="1" y="7597"/>
                </a:cubicBezTo>
                <a:cubicBezTo>
                  <a:pt x="1" y="7966"/>
                  <a:pt x="298" y="8263"/>
                  <a:pt x="667" y="8263"/>
                </a:cubicBezTo>
                <a:lnTo>
                  <a:pt x="2001" y="8263"/>
                </a:lnTo>
                <a:lnTo>
                  <a:pt x="2001" y="9942"/>
                </a:lnTo>
                <a:lnTo>
                  <a:pt x="667" y="9942"/>
                </a:lnTo>
                <a:cubicBezTo>
                  <a:pt x="298" y="9942"/>
                  <a:pt x="1" y="10240"/>
                  <a:pt x="1" y="10609"/>
                </a:cubicBezTo>
                <a:cubicBezTo>
                  <a:pt x="1" y="10978"/>
                  <a:pt x="298" y="11276"/>
                  <a:pt x="667" y="11276"/>
                </a:cubicBezTo>
                <a:lnTo>
                  <a:pt x="2001" y="11276"/>
                </a:lnTo>
                <a:lnTo>
                  <a:pt x="2001" y="12133"/>
                </a:lnTo>
                <a:cubicBezTo>
                  <a:pt x="2001" y="12716"/>
                  <a:pt x="2477" y="13193"/>
                  <a:pt x="3072" y="13193"/>
                </a:cubicBezTo>
                <a:lnTo>
                  <a:pt x="3918" y="13193"/>
                </a:lnTo>
                <a:lnTo>
                  <a:pt x="3918" y="14526"/>
                </a:lnTo>
                <a:cubicBezTo>
                  <a:pt x="3918" y="14895"/>
                  <a:pt x="4215" y="15193"/>
                  <a:pt x="4584" y="15193"/>
                </a:cubicBezTo>
                <a:cubicBezTo>
                  <a:pt x="4954" y="15193"/>
                  <a:pt x="5251" y="14895"/>
                  <a:pt x="5251" y="14526"/>
                </a:cubicBezTo>
                <a:lnTo>
                  <a:pt x="5251" y="13193"/>
                </a:lnTo>
                <a:lnTo>
                  <a:pt x="6930" y="13193"/>
                </a:lnTo>
                <a:lnTo>
                  <a:pt x="6930" y="14526"/>
                </a:lnTo>
                <a:cubicBezTo>
                  <a:pt x="6930" y="14895"/>
                  <a:pt x="7240" y="15193"/>
                  <a:pt x="7597" y="15193"/>
                </a:cubicBezTo>
                <a:cubicBezTo>
                  <a:pt x="7966" y="15193"/>
                  <a:pt x="8264" y="14895"/>
                  <a:pt x="8264" y="14526"/>
                </a:cubicBezTo>
                <a:lnTo>
                  <a:pt x="8264" y="13193"/>
                </a:lnTo>
                <a:lnTo>
                  <a:pt x="9954" y="13193"/>
                </a:lnTo>
                <a:lnTo>
                  <a:pt x="9954" y="14526"/>
                </a:lnTo>
                <a:cubicBezTo>
                  <a:pt x="9954" y="14895"/>
                  <a:pt x="10252" y="15193"/>
                  <a:pt x="10621" y="15193"/>
                </a:cubicBezTo>
                <a:cubicBezTo>
                  <a:pt x="10990" y="15193"/>
                  <a:pt x="11288" y="14895"/>
                  <a:pt x="11288" y="14526"/>
                </a:cubicBezTo>
                <a:lnTo>
                  <a:pt x="11288" y="13193"/>
                </a:lnTo>
                <a:lnTo>
                  <a:pt x="12133" y="13193"/>
                </a:lnTo>
                <a:cubicBezTo>
                  <a:pt x="12728" y="13193"/>
                  <a:pt x="13205" y="12716"/>
                  <a:pt x="13205" y="12133"/>
                </a:cubicBezTo>
                <a:lnTo>
                  <a:pt x="13205" y="11276"/>
                </a:lnTo>
                <a:lnTo>
                  <a:pt x="14538" y="11276"/>
                </a:lnTo>
                <a:cubicBezTo>
                  <a:pt x="14907" y="11276"/>
                  <a:pt x="15205" y="10978"/>
                  <a:pt x="15205" y="10609"/>
                </a:cubicBezTo>
                <a:cubicBezTo>
                  <a:pt x="15205" y="10240"/>
                  <a:pt x="14907" y="9942"/>
                  <a:pt x="14538" y="9942"/>
                </a:cubicBezTo>
                <a:lnTo>
                  <a:pt x="13205" y="9942"/>
                </a:lnTo>
                <a:lnTo>
                  <a:pt x="13205" y="8263"/>
                </a:lnTo>
                <a:lnTo>
                  <a:pt x="14538" y="8263"/>
                </a:lnTo>
                <a:cubicBezTo>
                  <a:pt x="14907" y="8263"/>
                  <a:pt x="15205" y="7966"/>
                  <a:pt x="15205" y="7597"/>
                </a:cubicBezTo>
                <a:cubicBezTo>
                  <a:pt x="15205" y="7228"/>
                  <a:pt x="14907" y="6930"/>
                  <a:pt x="14538" y="6930"/>
                </a:cubicBezTo>
                <a:lnTo>
                  <a:pt x="13205" y="6930"/>
                </a:lnTo>
                <a:lnTo>
                  <a:pt x="13205" y="5239"/>
                </a:lnTo>
                <a:lnTo>
                  <a:pt x="14538" y="5239"/>
                </a:lnTo>
                <a:cubicBezTo>
                  <a:pt x="14907" y="5239"/>
                  <a:pt x="15205" y="4942"/>
                  <a:pt x="15205" y="4573"/>
                </a:cubicBezTo>
                <a:cubicBezTo>
                  <a:pt x="15205" y="4203"/>
                  <a:pt x="14907" y="3906"/>
                  <a:pt x="14538" y="3906"/>
                </a:cubicBezTo>
                <a:lnTo>
                  <a:pt x="13205" y="3906"/>
                </a:lnTo>
                <a:lnTo>
                  <a:pt x="13205" y="3060"/>
                </a:lnTo>
                <a:cubicBezTo>
                  <a:pt x="13205" y="2477"/>
                  <a:pt x="12728" y="2001"/>
                  <a:pt x="12133" y="2001"/>
                </a:cubicBezTo>
                <a:lnTo>
                  <a:pt x="11288" y="2001"/>
                </a:lnTo>
                <a:lnTo>
                  <a:pt x="11288" y="667"/>
                </a:lnTo>
                <a:cubicBezTo>
                  <a:pt x="11288" y="298"/>
                  <a:pt x="10990" y="1"/>
                  <a:pt x="10621" y="1"/>
                </a:cubicBezTo>
                <a:cubicBezTo>
                  <a:pt x="10252" y="1"/>
                  <a:pt x="9954" y="298"/>
                  <a:pt x="9954" y="667"/>
                </a:cubicBezTo>
                <a:lnTo>
                  <a:pt x="9954" y="2001"/>
                </a:lnTo>
                <a:lnTo>
                  <a:pt x="8264" y="2001"/>
                </a:lnTo>
                <a:lnTo>
                  <a:pt x="8264" y="667"/>
                </a:lnTo>
                <a:cubicBezTo>
                  <a:pt x="8264" y="298"/>
                  <a:pt x="7966" y="1"/>
                  <a:pt x="7597" y="1"/>
                </a:cubicBezTo>
                <a:cubicBezTo>
                  <a:pt x="7240" y="1"/>
                  <a:pt x="6930" y="298"/>
                  <a:pt x="6930" y="667"/>
                </a:cubicBezTo>
                <a:lnTo>
                  <a:pt x="6930" y="2001"/>
                </a:lnTo>
                <a:lnTo>
                  <a:pt x="5251" y="2001"/>
                </a:lnTo>
                <a:lnTo>
                  <a:pt x="5251" y="667"/>
                </a:lnTo>
                <a:cubicBezTo>
                  <a:pt x="5251" y="298"/>
                  <a:pt x="4954" y="1"/>
                  <a:pt x="45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34"/>
          <p:cNvGrpSpPr/>
          <p:nvPr/>
        </p:nvGrpSpPr>
        <p:grpSpPr>
          <a:xfrm>
            <a:off x="7520507" y="3613104"/>
            <a:ext cx="456169" cy="455755"/>
            <a:chOff x="858739" y="828453"/>
            <a:chExt cx="456169" cy="455755"/>
          </a:xfrm>
        </p:grpSpPr>
        <p:sp>
          <p:nvSpPr>
            <p:cNvPr id="417" name="Google Shape;417;p34"/>
            <p:cNvSpPr/>
            <p:nvPr/>
          </p:nvSpPr>
          <p:spPr>
            <a:xfrm>
              <a:off x="860893" y="976860"/>
              <a:ext cx="113080" cy="114505"/>
            </a:xfrm>
            <a:custGeom>
              <a:avLst/>
              <a:gdLst/>
              <a:ahLst/>
              <a:cxnLst/>
              <a:rect l="l" t="t" r="r" b="b"/>
              <a:pathLst>
                <a:path w="3728" h="3775" extrusionOk="0">
                  <a:moveTo>
                    <a:pt x="3728" y="1"/>
                  </a:moveTo>
                  <a:lnTo>
                    <a:pt x="3728" y="1"/>
                  </a:lnTo>
                  <a:cubicBezTo>
                    <a:pt x="1823" y="167"/>
                    <a:pt x="1" y="2525"/>
                    <a:pt x="1" y="2525"/>
                  </a:cubicBezTo>
                  <a:lnTo>
                    <a:pt x="1263" y="3775"/>
                  </a:lnTo>
                  <a:cubicBezTo>
                    <a:pt x="1299" y="3692"/>
                    <a:pt x="1346" y="3596"/>
                    <a:pt x="1406" y="3513"/>
                  </a:cubicBezTo>
                  <a:cubicBezTo>
                    <a:pt x="2549" y="1858"/>
                    <a:pt x="3228" y="786"/>
                    <a:pt x="37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1051951" y="1169337"/>
              <a:ext cx="114505" cy="112716"/>
            </a:xfrm>
            <a:custGeom>
              <a:avLst/>
              <a:gdLst/>
              <a:ahLst/>
              <a:cxnLst/>
              <a:rect l="l" t="t" r="r" b="b"/>
              <a:pathLst>
                <a:path w="3775" h="3716" extrusionOk="0">
                  <a:moveTo>
                    <a:pt x="3775" y="1"/>
                  </a:moveTo>
                  <a:lnTo>
                    <a:pt x="3775" y="1"/>
                  </a:lnTo>
                  <a:cubicBezTo>
                    <a:pt x="2989" y="501"/>
                    <a:pt x="1917" y="1179"/>
                    <a:pt x="262" y="2322"/>
                  </a:cubicBezTo>
                  <a:cubicBezTo>
                    <a:pt x="179" y="2382"/>
                    <a:pt x="84" y="2430"/>
                    <a:pt x="0" y="2465"/>
                  </a:cubicBezTo>
                  <a:lnTo>
                    <a:pt x="1251" y="3715"/>
                  </a:lnTo>
                  <a:cubicBezTo>
                    <a:pt x="1251" y="3715"/>
                    <a:pt x="3608" y="1906"/>
                    <a:pt x="37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858739" y="1141888"/>
              <a:ext cx="142684" cy="142320"/>
            </a:xfrm>
            <a:custGeom>
              <a:avLst/>
              <a:gdLst/>
              <a:ahLst/>
              <a:cxnLst/>
              <a:rect l="l" t="t" r="r" b="b"/>
              <a:pathLst>
                <a:path w="4704" h="4692" extrusionOk="0">
                  <a:moveTo>
                    <a:pt x="1894" y="1"/>
                  </a:moveTo>
                  <a:cubicBezTo>
                    <a:pt x="1584" y="215"/>
                    <a:pt x="1322" y="465"/>
                    <a:pt x="1096" y="763"/>
                  </a:cubicBezTo>
                  <a:cubicBezTo>
                    <a:pt x="763" y="1203"/>
                    <a:pt x="513" y="1691"/>
                    <a:pt x="334" y="2215"/>
                  </a:cubicBezTo>
                  <a:cubicBezTo>
                    <a:pt x="143" y="2775"/>
                    <a:pt x="36" y="3358"/>
                    <a:pt x="12" y="3954"/>
                  </a:cubicBezTo>
                  <a:cubicBezTo>
                    <a:pt x="12" y="4037"/>
                    <a:pt x="1" y="4120"/>
                    <a:pt x="24" y="4204"/>
                  </a:cubicBezTo>
                  <a:cubicBezTo>
                    <a:pt x="36" y="4311"/>
                    <a:pt x="84" y="4406"/>
                    <a:pt x="155" y="4489"/>
                  </a:cubicBezTo>
                  <a:cubicBezTo>
                    <a:pt x="227" y="4573"/>
                    <a:pt x="310" y="4632"/>
                    <a:pt x="417" y="4668"/>
                  </a:cubicBezTo>
                  <a:cubicBezTo>
                    <a:pt x="501" y="4692"/>
                    <a:pt x="584" y="4692"/>
                    <a:pt x="667" y="4692"/>
                  </a:cubicBezTo>
                  <a:cubicBezTo>
                    <a:pt x="1203" y="4692"/>
                    <a:pt x="1751" y="4597"/>
                    <a:pt x="2263" y="4442"/>
                  </a:cubicBezTo>
                  <a:cubicBezTo>
                    <a:pt x="3203" y="4168"/>
                    <a:pt x="4144" y="3644"/>
                    <a:pt x="4704" y="2811"/>
                  </a:cubicBezTo>
                  <a:lnTo>
                    <a:pt x="4573" y="2680"/>
                  </a:lnTo>
                  <a:cubicBezTo>
                    <a:pt x="4537" y="2692"/>
                    <a:pt x="4501" y="2715"/>
                    <a:pt x="4465" y="2727"/>
                  </a:cubicBezTo>
                  <a:cubicBezTo>
                    <a:pt x="4251" y="2811"/>
                    <a:pt x="4037" y="2906"/>
                    <a:pt x="3811" y="2977"/>
                  </a:cubicBezTo>
                  <a:cubicBezTo>
                    <a:pt x="3227" y="3180"/>
                    <a:pt x="2620" y="3311"/>
                    <a:pt x="2001" y="3394"/>
                  </a:cubicBezTo>
                  <a:cubicBezTo>
                    <a:pt x="1751" y="3430"/>
                    <a:pt x="1489" y="3454"/>
                    <a:pt x="1227" y="3477"/>
                  </a:cubicBezTo>
                  <a:cubicBezTo>
                    <a:pt x="1227" y="3442"/>
                    <a:pt x="1239" y="3418"/>
                    <a:pt x="1239" y="3382"/>
                  </a:cubicBezTo>
                  <a:cubicBezTo>
                    <a:pt x="1286" y="2751"/>
                    <a:pt x="1382" y="2132"/>
                    <a:pt x="1536" y="1525"/>
                  </a:cubicBezTo>
                  <a:cubicBezTo>
                    <a:pt x="1608" y="1227"/>
                    <a:pt x="1703" y="941"/>
                    <a:pt x="1810" y="656"/>
                  </a:cubicBezTo>
                  <a:cubicBezTo>
                    <a:pt x="1870" y="477"/>
                    <a:pt x="1953" y="310"/>
                    <a:pt x="2025" y="144"/>
                  </a:cubicBezTo>
                  <a:lnTo>
                    <a:pt x="1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1192416" y="1024903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915065" y="828453"/>
              <a:ext cx="399843" cy="398357"/>
            </a:xfrm>
            <a:custGeom>
              <a:avLst/>
              <a:gdLst/>
              <a:ahLst/>
              <a:cxnLst/>
              <a:rect l="l" t="t" r="r" b="b"/>
              <a:pathLst>
                <a:path w="13182" h="13133" extrusionOk="0">
                  <a:moveTo>
                    <a:pt x="7929" y="3527"/>
                  </a:moveTo>
                  <a:cubicBezTo>
                    <a:pt x="8371" y="3527"/>
                    <a:pt x="8812" y="3697"/>
                    <a:pt x="9145" y="4036"/>
                  </a:cubicBezTo>
                  <a:cubicBezTo>
                    <a:pt x="9824" y="4703"/>
                    <a:pt x="9824" y="5799"/>
                    <a:pt x="9145" y="6477"/>
                  </a:cubicBezTo>
                  <a:cubicBezTo>
                    <a:pt x="8812" y="6811"/>
                    <a:pt x="8371" y="6977"/>
                    <a:pt x="7929" y="6977"/>
                  </a:cubicBezTo>
                  <a:cubicBezTo>
                    <a:pt x="7487" y="6977"/>
                    <a:pt x="7043" y="6811"/>
                    <a:pt x="6704" y="6477"/>
                  </a:cubicBezTo>
                  <a:cubicBezTo>
                    <a:pt x="6037" y="5799"/>
                    <a:pt x="6037" y="4703"/>
                    <a:pt x="6704" y="4036"/>
                  </a:cubicBezTo>
                  <a:cubicBezTo>
                    <a:pt x="7043" y="3697"/>
                    <a:pt x="7487" y="3527"/>
                    <a:pt x="7929" y="3527"/>
                  </a:cubicBezTo>
                  <a:close/>
                  <a:moveTo>
                    <a:pt x="12657" y="0"/>
                  </a:moveTo>
                  <a:cubicBezTo>
                    <a:pt x="10978" y="36"/>
                    <a:pt x="6847" y="345"/>
                    <a:pt x="4656" y="2536"/>
                  </a:cubicBezTo>
                  <a:cubicBezTo>
                    <a:pt x="3668" y="3536"/>
                    <a:pt x="3347" y="4048"/>
                    <a:pt x="2632" y="5179"/>
                  </a:cubicBezTo>
                  <a:cubicBezTo>
                    <a:pt x="2120" y="6001"/>
                    <a:pt x="1418" y="7120"/>
                    <a:pt x="144" y="8966"/>
                  </a:cubicBezTo>
                  <a:cubicBezTo>
                    <a:pt x="1" y="9168"/>
                    <a:pt x="25" y="9442"/>
                    <a:pt x="203" y="9620"/>
                  </a:cubicBezTo>
                  <a:lnTo>
                    <a:pt x="3561" y="12978"/>
                  </a:lnTo>
                  <a:cubicBezTo>
                    <a:pt x="3656" y="13073"/>
                    <a:pt x="3787" y="13133"/>
                    <a:pt x="3930" y="13133"/>
                  </a:cubicBezTo>
                  <a:cubicBezTo>
                    <a:pt x="4025" y="13133"/>
                    <a:pt x="4132" y="13097"/>
                    <a:pt x="4216" y="13038"/>
                  </a:cubicBezTo>
                  <a:cubicBezTo>
                    <a:pt x="6061" y="11752"/>
                    <a:pt x="7180" y="11061"/>
                    <a:pt x="7990" y="10549"/>
                  </a:cubicBezTo>
                  <a:cubicBezTo>
                    <a:pt x="9133" y="9835"/>
                    <a:pt x="9645" y="9513"/>
                    <a:pt x="10645" y="8525"/>
                  </a:cubicBezTo>
                  <a:cubicBezTo>
                    <a:pt x="12836" y="6322"/>
                    <a:pt x="13145" y="2203"/>
                    <a:pt x="13181" y="524"/>
                  </a:cubicBezTo>
                  <a:cubicBezTo>
                    <a:pt x="13181" y="393"/>
                    <a:pt x="13134" y="250"/>
                    <a:pt x="13026" y="155"/>
                  </a:cubicBezTo>
                  <a:cubicBezTo>
                    <a:pt x="12931" y="60"/>
                    <a:pt x="12800" y="0"/>
                    <a:pt x="12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34"/>
          <p:cNvSpPr/>
          <p:nvPr/>
        </p:nvSpPr>
        <p:spPr>
          <a:xfrm>
            <a:off x="1131717" y="1659290"/>
            <a:ext cx="403817" cy="460478"/>
          </a:xfrm>
          <a:custGeom>
            <a:avLst/>
            <a:gdLst/>
            <a:ahLst/>
            <a:cxnLst/>
            <a:rect l="l" t="t" r="r" b="b"/>
            <a:pathLst>
              <a:path w="13313" h="15181" extrusionOk="0">
                <a:moveTo>
                  <a:pt x="5923" y="3645"/>
                </a:moveTo>
                <a:cubicBezTo>
                  <a:pt x="6033" y="3645"/>
                  <a:pt x="6143" y="3694"/>
                  <a:pt x="6216" y="3787"/>
                </a:cubicBezTo>
                <a:cubicBezTo>
                  <a:pt x="6347" y="3941"/>
                  <a:pt x="6323" y="4191"/>
                  <a:pt x="6168" y="4322"/>
                </a:cubicBezTo>
                <a:lnTo>
                  <a:pt x="5049" y="5251"/>
                </a:lnTo>
                <a:lnTo>
                  <a:pt x="6168" y="6180"/>
                </a:lnTo>
                <a:cubicBezTo>
                  <a:pt x="6323" y="6311"/>
                  <a:pt x="6347" y="6549"/>
                  <a:pt x="6216" y="6716"/>
                </a:cubicBezTo>
                <a:cubicBezTo>
                  <a:pt x="6145" y="6811"/>
                  <a:pt x="6037" y="6846"/>
                  <a:pt x="5918" y="6846"/>
                </a:cubicBezTo>
                <a:cubicBezTo>
                  <a:pt x="5835" y="6846"/>
                  <a:pt x="5752" y="6823"/>
                  <a:pt x="5680" y="6763"/>
                </a:cubicBezTo>
                <a:lnTo>
                  <a:pt x="4204" y="5537"/>
                </a:lnTo>
                <a:cubicBezTo>
                  <a:pt x="4120" y="5465"/>
                  <a:pt x="4073" y="5358"/>
                  <a:pt x="4073" y="5251"/>
                </a:cubicBezTo>
                <a:cubicBezTo>
                  <a:pt x="4073" y="5132"/>
                  <a:pt x="4120" y="5025"/>
                  <a:pt x="4204" y="4953"/>
                </a:cubicBezTo>
                <a:lnTo>
                  <a:pt x="5680" y="3739"/>
                </a:lnTo>
                <a:cubicBezTo>
                  <a:pt x="5749" y="3676"/>
                  <a:pt x="5836" y="3645"/>
                  <a:pt x="5923" y="3645"/>
                </a:cubicBezTo>
                <a:close/>
                <a:moveTo>
                  <a:pt x="9052" y="3645"/>
                </a:moveTo>
                <a:cubicBezTo>
                  <a:pt x="9138" y="3645"/>
                  <a:pt x="9226" y="3676"/>
                  <a:pt x="9300" y="3739"/>
                </a:cubicBezTo>
                <a:lnTo>
                  <a:pt x="10764" y="4953"/>
                </a:lnTo>
                <a:cubicBezTo>
                  <a:pt x="10859" y="5025"/>
                  <a:pt x="10907" y="5132"/>
                  <a:pt x="10907" y="5251"/>
                </a:cubicBezTo>
                <a:cubicBezTo>
                  <a:pt x="10907" y="5358"/>
                  <a:pt x="10859" y="5465"/>
                  <a:pt x="10764" y="5537"/>
                </a:cubicBezTo>
                <a:lnTo>
                  <a:pt x="9300" y="6763"/>
                </a:lnTo>
                <a:cubicBezTo>
                  <a:pt x="9228" y="6823"/>
                  <a:pt x="9145" y="6846"/>
                  <a:pt x="9050" y="6846"/>
                </a:cubicBezTo>
                <a:cubicBezTo>
                  <a:pt x="8943" y="6846"/>
                  <a:pt x="8835" y="6811"/>
                  <a:pt x="8764" y="6716"/>
                </a:cubicBezTo>
                <a:cubicBezTo>
                  <a:pt x="8621" y="6549"/>
                  <a:pt x="8645" y="6311"/>
                  <a:pt x="8812" y="6180"/>
                </a:cubicBezTo>
                <a:lnTo>
                  <a:pt x="9931" y="5251"/>
                </a:lnTo>
                <a:lnTo>
                  <a:pt x="8812" y="4322"/>
                </a:lnTo>
                <a:cubicBezTo>
                  <a:pt x="8645" y="4191"/>
                  <a:pt x="8621" y="3941"/>
                  <a:pt x="8764" y="3787"/>
                </a:cubicBezTo>
                <a:cubicBezTo>
                  <a:pt x="8837" y="3694"/>
                  <a:pt x="8943" y="3645"/>
                  <a:pt x="9052" y="3645"/>
                </a:cubicBezTo>
                <a:close/>
                <a:moveTo>
                  <a:pt x="8186" y="2449"/>
                </a:moveTo>
                <a:cubicBezTo>
                  <a:pt x="8224" y="2449"/>
                  <a:pt x="8262" y="2454"/>
                  <a:pt x="8300" y="2465"/>
                </a:cubicBezTo>
                <a:cubicBezTo>
                  <a:pt x="8502" y="2513"/>
                  <a:pt x="8609" y="2727"/>
                  <a:pt x="8562" y="2929"/>
                </a:cubicBezTo>
                <a:lnTo>
                  <a:pt x="7157" y="7775"/>
                </a:lnTo>
                <a:cubicBezTo>
                  <a:pt x="7109" y="7942"/>
                  <a:pt x="6954" y="8049"/>
                  <a:pt x="6787" y="8049"/>
                </a:cubicBezTo>
                <a:cubicBezTo>
                  <a:pt x="6752" y="8049"/>
                  <a:pt x="6716" y="8049"/>
                  <a:pt x="6680" y="8037"/>
                </a:cubicBezTo>
                <a:cubicBezTo>
                  <a:pt x="6478" y="7978"/>
                  <a:pt x="6359" y="7763"/>
                  <a:pt x="6418" y="7561"/>
                </a:cubicBezTo>
                <a:lnTo>
                  <a:pt x="7823" y="2715"/>
                </a:lnTo>
                <a:cubicBezTo>
                  <a:pt x="7872" y="2550"/>
                  <a:pt x="8023" y="2449"/>
                  <a:pt x="8186" y="2449"/>
                </a:cubicBezTo>
                <a:close/>
                <a:moveTo>
                  <a:pt x="7442" y="0"/>
                </a:moveTo>
                <a:cubicBezTo>
                  <a:pt x="6121" y="0"/>
                  <a:pt x="4799" y="417"/>
                  <a:pt x="3716" y="1167"/>
                </a:cubicBezTo>
                <a:cubicBezTo>
                  <a:pt x="2561" y="1965"/>
                  <a:pt x="1751" y="3084"/>
                  <a:pt x="1370" y="4394"/>
                </a:cubicBezTo>
                <a:cubicBezTo>
                  <a:pt x="1227" y="4906"/>
                  <a:pt x="1144" y="5334"/>
                  <a:pt x="1084" y="5715"/>
                </a:cubicBezTo>
                <a:cubicBezTo>
                  <a:pt x="942" y="6501"/>
                  <a:pt x="834" y="7073"/>
                  <a:pt x="215" y="7989"/>
                </a:cubicBezTo>
                <a:cubicBezTo>
                  <a:pt x="49" y="8228"/>
                  <a:pt x="1" y="8466"/>
                  <a:pt x="60" y="8680"/>
                </a:cubicBezTo>
                <a:cubicBezTo>
                  <a:pt x="156" y="9025"/>
                  <a:pt x="477" y="9168"/>
                  <a:pt x="739" y="9287"/>
                </a:cubicBezTo>
                <a:cubicBezTo>
                  <a:pt x="834" y="9323"/>
                  <a:pt x="977" y="9394"/>
                  <a:pt x="1013" y="9430"/>
                </a:cubicBezTo>
                <a:cubicBezTo>
                  <a:pt x="1168" y="9633"/>
                  <a:pt x="1156" y="10180"/>
                  <a:pt x="1144" y="10656"/>
                </a:cubicBezTo>
                <a:cubicBezTo>
                  <a:pt x="1132" y="11347"/>
                  <a:pt x="1108" y="12061"/>
                  <a:pt x="1453" y="12585"/>
                </a:cubicBezTo>
                <a:cubicBezTo>
                  <a:pt x="1930" y="13300"/>
                  <a:pt x="2668" y="13312"/>
                  <a:pt x="3263" y="13312"/>
                </a:cubicBezTo>
                <a:cubicBezTo>
                  <a:pt x="3966" y="13323"/>
                  <a:pt x="4287" y="13323"/>
                  <a:pt x="4359" y="14097"/>
                </a:cubicBezTo>
                <a:cubicBezTo>
                  <a:pt x="4359" y="14121"/>
                  <a:pt x="4359" y="14205"/>
                  <a:pt x="4359" y="14276"/>
                </a:cubicBezTo>
                <a:cubicBezTo>
                  <a:pt x="4382" y="14788"/>
                  <a:pt x="4394" y="14859"/>
                  <a:pt x="4418" y="14931"/>
                </a:cubicBezTo>
                <a:cubicBezTo>
                  <a:pt x="4466" y="15086"/>
                  <a:pt x="4609" y="15181"/>
                  <a:pt x="4763" y="15181"/>
                </a:cubicBezTo>
                <a:lnTo>
                  <a:pt x="11312" y="15181"/>
                </a:lnTo>
                <a:cubicBezTo>
                  <a:pt x="11443" y="15181"/>
                  <a:pt x="11562" y="15121"/>
                  <a:pt x="11621" y="15014"/>
                </a:cubicBezTo>
                <a:cubicBezTo>
                  <a:pt x="11693" y="14907"/>
                  <a:pt x="11705" y="14764"/>
                  <a:pt x="11645" y="14657"/>
                </a:cubicBezTo>
                <a:cubicBezTo>
                  <a:pt x="10824" y="12942"/>
                  <a:pt x="11490" y="11192"/>
                  <a:pt x="12217" y="9335"/>
                </a:cubicBezTo>
                <a:cubicBezTo>
                  <a:pt x="12645" y="8204"/>
                  <a:pt x="13098" y="7037"/>
                  <a:pt x="13193" y="5846"/>
                </a:cubicBezTo>
                <a:cubicBezTo>
                  <a:pt x="13312" y="4489"/>
                  <a:pt x="12943" y="3287"/>
                  <a:pt x="12062" y="2191"/>
                </a:cubicBezTo>
                <a:cubicBezTo>
                  <a:pt x="10931" y="774"/>
                  <a:pt x="9288" y="0"/>
                  <a:pt x="74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34"/>
          <p:cNvGrpSpPr/>
          <p:nvPr/>
        </p:nvGrpSpPr>
        <p:grpSpPr>
          <a:xfrm>
            <a:off x="7532700" y="1662581"/>
            <a:ext cx="431782" cy="457187"/>
            <a:chOff x="-1611775" y="1332800"/>
            <a:chExt cx="469175" cy="492075"/>
          </a:xfrm>
        </p:grpSpPr>
        <p:sp>
          <p:nvSpPr>
            <p:cNvPr id="424" name="Google Shape;424;p34"/>
            <p:cNvSpPr/>
            <p:nvPr/>
          </p:nvSpPr>
          <p:spPr>
            <a:xfrm>
              <a:off x="-1581150" y="1758225"/>
              <a:ext cx="107025" cy="66650"/>
            </a:xfrm>
            <a:custGeom>
              <a:avLst/>
              <a:gdLst/>
              <a:ahLst/>
              <a:cxnLst/>
              <a:rect l="l" t="t" r="r" b="b"/>
              <a:pathLst>
                <a:path w="4281" h="2666" extrusionOk="0">
                  <a:moveTo>
                    <a:pt x="572" y="0"/>
                  </a:moveTo>
                  <a:cubicBezTo>
                    <a:pt x="516" y="0"/>
                    <a:pt x="459" y="9"/>
                    <a:pt x="404" y="29"/>
                  </a:cubicBezTo>
                  <a:cubicBezTo>
                    <a:pt x="140" y="122"/>
                    <a:pt x="0" y="417"/>
                    <a:pt x="93" y="680"/>
                  </a:cubicBezTo>
                  <a:cubicBezTo>
                    <a:pt x="357" y="1425"/>
                    <a:pt x="900" y="2030"/>
                    <a:pt x="1598" y="2371"/>
                  </a:cubicBezTo>
                  <a:cubicBezTo>
                    <a:pt x="2017" y="2573"/>
                    <a:pt x="2451" y="2666"/>
                    <a:pt x="2901" y="2666"/>
                  </a:cubicBezTo>
                  <a:cubicBezTo>
                    <a:pt x="3226" y="2666"/>
                    <a:pt x="3552" y="2619"/>
                    <a:pt x="3862" y="2511"/>
                  </a:cubicBezTo>
                  <a:cubicBezTo>
                    <a:pt x="4141" y="2417"/>
                    <a:pt x="4281" y="2123"/>
                    <a:pt x="4188" y="1859"/>
                  </a:cubicBezTo>
                  <a:cubicBezTo>
                    <a:pt x="4114" y="1651"/>
                    <a:pt x="3915" y="1520"/>
                    <a:pt x="3705" y="1520"/>
                  </a:cubicBezTo>
                  <a:cubicBezTo>
                    <a:pt x="3649" y="1520"/>
                    <a:pt x="3592" y="1529"/>
                    <a:pt x="3536" y="1549"/>
                  </a:cubicBezTo>
                  <a:cubicBezTo>
                    <a:pt x="3326" y="1621"/>
                    <a:pt x="3111" y="1657"/>
                    <a:pt x="2897" y="1657"/>
                  </a:cubicBezTo>
                  <a:cubicBezTo>
                    <a:pt x="2605" y="1657"/>
                    <a:pt x="2316" y="1590"/>
                    <a:pt x="2048" y="1456"/>
                  </a:cubicBezTo>
                  <a:cubicBezTo>
                    <a:pt x="1582" y="1239"/>
                    <a:pt x="1226" y="836"/>
                    <a:pt x="1055" y="339"/>
                  </a:cubicBezTo>
                  <a:cubicBezTo>
                    <a:pt x="981" y="131"/>
                    <a:pt x="782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-1303525" y="1480925"/>
              <a:ext cx="86875" cy="87275"/>
            </a:xfrm>
            <a:custGeom>
              <a:avLst/>
              <a:gdLst/>
              <a:ahLst/>
              <a:cxnLst/>
              <a:rect l="l" t="t" r="r" b="b"/>
              <a:pathLst>
                <a:path w="3475" h="3491" extrusionOk="0">
                  <a:moveTo>
                    <a:pt x="512" y="1"/>
                  </a:moveTo>
                  <a:cubicBezTo>
                    <a:pt x="233" y="1"/>
                    <a:pt x="0" y="233"/>
                    <a:pt x="0" y="512"/>
                  </a:cubicBezTo>
                  <a:cubicBezTo>
                    <a:pt x="0" y="792"/>
                    <a:pt x="233" y="1024"/>
                    <a:pt x="512" y="1024"/>
                  </a:cubicBezTo>
                  <a:cubicBezTo>
                    <a:pt x="1582" y="1024"/>
                    <a:pt x="2451" y="1908"/>
                    <a:pt x="2435" y="2978"/>
                  </a:cubicBezTo>
                  <a:cubicBezTo>
                    <a:pt x="2435" y="3258"/>
                    <a:pt x="2668" y="3490"/>
                    <a:pt x="2947" y="3490"/>
                  </a:cubicBezTo>
                  <a:cubicBezTo>
                    <a:pt x="3226" y="3490"/>
                    <a:pt x="3459" y="3273"/>
                    <a:pt x="3459" y="2994"/>
                  </a:cubicBezTo>
                  <a:cubicBezTo>
                    <a:pt x="3474" y="1350"/>
                    <a:pt x="2156" y="16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-1611775" y="1332800"/>
              <a:ext cx="291975" cy="424600"/>
            </a:xfrm>
            <a:custGeom>
              <a:avLst/>
              <a:gdLst/>
              <a:ahLst/>
              <a:cxnLst/>
              <a:rect l="l" t="t" r="r" b="b"/>
              <a:pathLst>
                <a:path w="11679" h="16984" extrusionOk="0">
                  <a:moveTo>
                    <a:pt x="5832" y="1288"/>
                  </a:moveTo>
                  <a:cubicBezTo>
                    <a:pt x="8654" y="1288"/>
                    <a:pt x="10391" y="2219"/>
                    <a:pt x="10391" y="2731"/>
                  </a:cubicBezTo>
                  <a:cubicBezTo>
                    <a:pt x="10391" y="3242"/>
                    <a:pt x="8654" y="4173"/>
                    <a:pt x="5832" y="4173"/>
                  </a:cubicBezTo>
                  <a:cubicBezTo>
                    <a:pt x="3009" y="4173"/>
                    <a:pt x="1287" y="3242"/>
                    <a:pt x="1287" y="2731"/>
                  </a:cubicBezTo>
                  <a:cubicBezTo>
                    <a:pt x="1287" y="2219"/>
                    <a:pt x="3009" y="1288"/>
                    <a:pt x="5832" y="1288"/>
                  </a:cubicBezTo>
                  <a:close/>
                  <a:moveTo>
                    <a:pt x="10097" y="5771"/>
                  </a:moveTo>
                  <a:cubicBezTo>
                    <a:pt x="10283" y="5926"/>
                    <a:pt x="10391" y="6081"/>
                    <a:pt x="10391" y="6205"/>
                  </a:cubicBezTo>
                  <a:cubicBezTo>
                    <a:pt x="10391" y="6701"/>
                    <a:pt x="8654" y="7632"/>
                    <a:pt x="5832" y="7632"/>
                  </a:cubicBezTo>
                  <a:cubicBezTo>
                    <a:pt x="3009" y="7632"/>
                    <a:pt x="1287" y="6701"/>
                    <a:pt x="1287" y="6205"/>
                  </a:cubicBezTo>
                  <a:cubicBezTo>
                    <a:pt x="1287" y="6081"/>
                    <a:pt x="1380" y="5926"/>
                    <a:pt x="1582" y="5771"/>
                  </a:cubicBezTo>
                  <a:cubicBezTo>
                    <a:pt x="2714" y="6313"/>
                    <a:pt x="4312" y="6593"/>
                    <a:pt x="5832" y="6593"/>
                  </a:cubicBezTo>
                  <a:cubicBezTo>
                    <a:pt x="7367" y="6593"/>
                    <a:pt x="8949" y="6313"/>
                    <a:pt x="10097" y="5771"/>
                  </a:cubicBezTo>
                  <a:close/>
                  <a:moveTo>
                    <a:pt x="5832" y="1"/>
                  </a:moveTo>
                  <a:cubicBezTo>
                    <a:pt x="3009" y="1"/>
                    <a:pt x="0" y="963"/>
                    <a:pt x="0" y="2731"/>
                  </a:cubicBezTo>
                  <a:lnTo>
                    <a:pt x="0" y="4127"/>
                  </a:lnTo>
                  <a:lnTo>
                    <a:pt x="0" y="4158"/>
                  </a:lnTo>
                  <a:cubicBezTo>
                    <a:pt x="62" y="4483"/>
                    <a:pt x="233" y="4778"/>
                    <a:pt x="496" y="5042"/>
                  </a:cubicBezTo>
                  <a:cubicBezTo>
                    <a:pt x="171" y="5383"/>
                    <a:pt x="0" y="5755"/>
                    <a:pt x="0" y="6189"/>
                  </a:cubicBezTo>
                  <a:lnTo>
                    <a:pt x="0" y="7601"/>
                  </a:lnTo>
                  <a:lnTo>
                    <a:pt x="0" y="7632"/>
                  </a:lnTo>
                  <a:cubicBezTo>
                    <a:pt x="62" y="7957"/>
                    <a:pt x="233" y="8252"/>
                    <a:pt x="496" y="8500"/>
                  </a:cubicBezTo>
                  <a:cubicBezTo>
                    <a:pt x="171" y="8841"/>
                    <a:pt x="0" y="9229"/>
                    <a:pt x="0" y="9663"/>
                  </a:cubicBezTo>
                  <a:lnTo>
                    <a:pt x="0" y="11059"/>
                  </a:lnTo>
                  <a:lnTo>
                    <a:pt x="0" y="11090"/>
                  </a:lnTo>
                  <a:cubicBezTo>
                    <a:pt x="62" y="11416"/>
                    <a:pt x="233" y="11711"/>
                    <a:pt x="496" y="11974"/>
                  </a:cubicBezTo>
                  <a:cubicBezTo>
                    <a:pt x="171" y="12300"/>
                    <a:pt x="0" y="12688"/>
                    <a:pt x="0" y="13122"/>
                  </a:cubicBezTo>
                  <a:lnTo>
                    <a:pt x="0" y="14533"/>
                  </a:lnTo>
                  <a:lnTo>
                    <a:pt x="0" y="14564"/>
                  </a:lnTo>
                  <a:cubicBezTo>
                    <a:pt x="310" y="16100"/>
                    <a:pt x="3009" y="16937"/>
                    <a:pt x="5583" y="16984"/>
                  </a:cubicBezTo>
                  <a:cubicBezTo>
                    <a:pt x="5692" y="16875"/>
                    <a:pt x="5832" y="16782"/>
                    <a:pt x="5971" y="16705"/>
                  </a:cubicBezTo>
                  <a:lnTo>
                    <a:pt x="5971" y="14564"/>
                  </a:lnTo>
                  <a:lnTo>
                    <a:pt x="5832" y="14564"/>
                  </a:lnTo>
                  <a:cubicBezTo>
                    <a:pt x="3009" y="14564"/>
                    <a:pt x="1287" y="13634"/>
                    <a:pt x="1287" y="13122"/>
                  </a:cubicBezTo>
                  <a:cubicBezTo>
                    <a:pt x="1287" y="13014"/>
                    <a:pt x="1380" y="12858"/>
                    <a:pt x="1582" y="12703"/>
                  </a:cubicBezTo>
                  <a:cubicBezTo>
                    <a:pt x="2714" y="13246"/>
                    <a:pt x="4312" y="13525"/>
                    <a:pt x="5832" y="13525"/>
                  </a:cubicBezTo>
                  <a:lnTo>
                    <a:pt x="5971" y="13525"/>
                  </a:lnTo>
                  <a:lnTo>
                    <a:pt x="5971" y="11090"/>
                  </a:lnTo>
                  <a:cubicBezTo>
                    <a:pt x="5925" y="11090"/>
                    <a:pt x="5878" y="11106"/>
                    <a:pt x="5832" y="11106"/>
                  </a:cubicBezTo>
                  <a:cubicBezTo>
                    <a:pt x="3009" y="11106"/>
                    <a:pt x="1287" y="10175"/>
                    <a:pt x="1287" y="9663"/>
                  </a:cubicBezTo>
                  <a:cubicBezTo>
                    <a:pt x="1287" y="9539"/>
                    <a:pt x="1380" y="9400"/>
                    <a:pt x="1582" y="9245"/>
                  </a:cubicBezTo>
                  <a:cubicBezTo>
                    <a:pt x="2714" y="9772"/>
                    <a:pt x="4312" y="10051"/>
                    <a:pt x="5832" y="10051"/>
                  </a:cubicBezTo>
                  <a:lnTo>
                    <a:pt x="6142" y="10051"/>
                  </a:lnTo>
                  <a:cubicBezTo>
                    <a:pt x="6343" y="9741"/>
                    <a:pt x="6700" y="9524"/>
                    <a:pt x="7103" y="9524"/>
                  </a:cubicBezTo>
                  <a:lnTo>
                    <a:pt x="9368" y="9524"/>
                  </a:lnTo>
                  <a:cubicBezTo>
                    <a:pt x="9616" y="9446"/>
                    <a:pt x="9864" y="9353"/>
                    <a:pt x="10097" y="9245"/>
                  </a:cubicBezTo>
                  <a:cubicBezTo>
                    <a:pt x="10221" y="9338"/>
                    <a:pt x="10314" y="9446"/>
                    <a:pt x="10360" y="9524"/>
                  </a:cubicBezTo>
                  <a:lnTo>
                    <a:pt x="11679" y="9524"/>
                  </a:lnTo>
                  <a:cubicBezTo>
                    <a:pt x="11632" y="9152"/>
                    <a:pt x="11462" y="8810"/>
                    <a:pt x="11182" y="8516"/>
                  </a:cubicBezTo>
                  <a:cubicBezTo>
                    <a:pt x="11431" y="8252"/>
                    <a:pt x="11617" y="7957"/>
                    <a:pt x="11679" y="7632"/>
                  </a:cubicBezTo>
                  <a:lnTo>
                    <a:pt x="11679" y="6189"/>
                  </a:lnTo>
                  <a:cubicBezTo>
                    <a:pt x="11679" y="5771"/>
                    <a:pt x="11493" y="5383"/>
                    <a:pt x="11182" y="5042"/>
                  </a:cubicBezTo>
                  <a:cubicBezTo>
                    <a:pt x="11431" y="4778"/>
                    <a:pt x="11617" y="4483"/>
                    <a:pt x="11679" y="4158"/>
                  </a:cubicBezTo>
                  <a:lnTo>
                    <a:pt x="11679" y="2731"/>
                  </a:lnTo>
                  <a:cubicBezTo>
                    <a:pt x="11679" y="963"/>
                    <a:pt x="8670" y="1"/>
                    <a:pt x="5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-1466375" y="1586775"/>
              <a:ext cx="323775" cy="214850"/>
            </a:xfrm>
            <a:custGeom>
              <a:avLst/>
              <a:gdLst/>
              <a:ahLst/>
              <a:cxnLst/>
              <a:rect l="l" t="t" r="r" b="b"/>
              <a:pathLst>
                <a:path w="12951" h="8594" extrusionOk="0">
                  <a:moveTo>
                    <a:pt x="10965" y="1086"/>
                  </a:moveTo>
                  <a:lnTo>
                    <a:pt x="10965" y="7104"/>
                  </a:lnTo>
                  <a:lnTo>
                    <a:pt x="1970" y="7104"/>
                  </a:lnTo>
                  <a:lnTo>
                    <a:pt x="1970" y="1086"/>
                  </a:lnTo>
                  <a:close/>
                  <a:moveTo>
                    <a:pt x="1287" y="1"/>
                  </a:moveTo>
                  <a:cubicBezTo>
                    <a:pt x="1008" y="1"/>
                    <a:pt x="791" y="233"/>
                    <a:pt x="791" y="497"/>
                  </a:cubicBezTo>
                  <a:lnTo>
                    <a:pt x="791" y="7011"/>
                  </a:lnTo>
                  <a:lnTo>
                    <a:pt x="589" y="7058"/>
                  </a:lnTo>
                  <a:cubicBezTo>
                    <a:pt x="248" y="7151"/>
                    <a:pt x="0" y="7461"/>
                    <a:pt x="0" y="7818"/>
                  </a:cubicBezTo>
                  <a:cubicBezTo>
                    <a:pt x="0" y="8252"/>
                    <a:pt x="341" y="8593"/>
                    <a:pt x="776" y="8593"/>
                  </a:cubicBezTo>
                  <a:lnTo>
                    <a:pt x="12175" y="8593"/>
                  </a:lnTo>
                  <a:cubicBezTo>
                    <a:pt x="12609" y="8593"/>
                    <a:pt x="12951" y="8252"/>
                    <a:pt x="12951" y="7818"/>
                  </a:cubicBezTo>
                  <a:cubicBezTo>
                    <a:pt x="12951" y="7461"/>
                    <a:pt x="12702" y="7151"/>
                    <a:pt x="12346" y="7058"/>
                  </a:cubicBezTo>
                  <a:lnTo>
                    <a:pt x="12160" y="7011"/>
                  </a:lnTo>
                  <a:lnTo>
                    <a:pt x="12160" y="497"/>
                  </a:lnTo>
                  <a:cubicBezTo>
                    <a:pt x="12160" y="233"/>
                    <a:pt x="11942" y="1"/>
                    <a:pt x="116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0"/>
      <p:bldP spid="394" grpId="0"/>
      <p:bldP spid="395" grpId="0"/>
      <p:bldP spid="396" grpId="0" build="p"/>
      <p:bldP spid="397" grpId="0"/>
      <p:bldP spid="398" grpId="0" build="p"/>
      <p:bldP spid="399" grpId="0"/>
      <p:bldP spid="400" grpId="0" build="p"/>
      <p:bldP spid="4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Кодът започва с няколко речника с данни. В тях са записани Е-номера, скрити химични имена и ключови думи, които приложението разпознава. Например, програмата може да открие дадена съставка не само като E250, но и като „натриев нитрит“.</a:t>
            </a:r>
            <a:endParaRPr dirty="0"/>
          </a:p>
        </p:txBody>
      </p:sp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4579531" y="1395138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Речници </a:t>
            </a:r>
            <a:br>
              <a:rPr lang="ru-RU" dirty="0"/>
            </a:br>
            <a:r>
              <a:rPr lang="ru-RU" dirty="0"/>
              <a:t>с данни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C7325-FDC7-DB82-C52D-F2581AD827CA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D1F92-AFCB-15AA-8983-F75CF73F2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975"/>
            <a:ext cx="5360020" cy="1521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2F210A-C344-0DFE-7F84-3E773F8C7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6243"/>
            <a:ext cx="3939881" cy="2606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381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C69E9803-2E33-DF7B-8BFD-AE62F863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35356344-3CB9-96AA-63C0-AB34315C2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9597" y="2388200"/>
            <a:ext cx="3732628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 err="1"/>
              <a:t>get_ocr_reader</a:t>
            </a:r>
            <a:r>
              <a:rPr lang="en-US" dirty="0"/>
              <a:t>()</a:t>
            </a:r>
            <a:r>
              <a:rPr lang="ru-RU" dirty="0"/>
              <a:t> - Тази функция създава EasyOCR reader, който разпознава текст на български и английски език.</a:t>
            </a:r>
            <a:br>
              <a:rPr lang="ru-RU" dirty="0"/>
            </a:br>
            <a:r>
              <a:rPr lang="ru-RU" dirty="0"/>
              <a:t>Използва се cache_resource, за да не се зарежда моделът отново при всяко действие.</a:t>
            </a:r>
            <a:endParaRPr dirty="0"/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C2812EDF-F642-F8F3-F17C-B3673CAA1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9531" y="1395138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Основни </a:t>
            </a:r>
            <a:br>
              <a:rPr lang="ru-RU" dirty="0"/>
            </a:br>
            <a:r>
              <a:rPr lang="ru-RU" dirty="0"/>
              <a:t>функции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CB399-B652-4B67-3938-C7D5A49F5C4D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F516C-53BB-4FE6-DC63-E21FAA80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601" y="2073436"/>
            <a:ext cx="4843198" cy="93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4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38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7F5F6F56-D51B-FCFB-58E2-4FD306C7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A9990B1D-82AE-5011-E64A-FC63DA5DA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9597" y="2388200"/>
            <a:ext cx="3732628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Корекция на OCR грешки. След разчитането на снимката понякога(доста често) OCR допуска грешки. Тази функция поправя някои често срещани проблеми, например грешно разпознати букви или думи.</a:t>
            </a:r>
            <a:endParaRPr dirty="0"/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B3C5B6CE-A63A-BD7D-CDF4-CED49CD58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9531" y="1395138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Основни </a:t>
            </a:r>
            <a:br>
              <a:rPr lang="ru-RU" dirty="0"/>
            </a:br>
            <a:r>
              <a:rPr lang="ru-RU" dirty="0"/>
              <a:t>функции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17593-531D-5D73-606E-878C824B0609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73FE5-48B2-D750-5FC5-0A7170A8A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962"/>
            <a:ext cx="4686706" cy="1143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9E2B3F-B495-14C5-B760-42F9E29CD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036" y="2211061"/>
            <a:ext cx="4840027" cy="165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20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381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86CE0C72-25E1-7F63-EDDF-795826E6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A84353C2-9776-B7A2-7076-099EE7F12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24039" y="2038802"/>
            <a:ext cx="3888186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b="1" dirty="0"/>
              <a:t>scan_for_e_numbers()</a:t>
            </a:r>
            <a:r>
              <a:rPr lang="ru-RU" dirty="0"/>
              <a:t> проверява извлечения текст от етикета и търси хранителни добавки. </a:t>
            </a:r>
          </a:p>
          <a:p>
            <a:pPr marL="0" lvl="0" indent="0">
              <a:buNone/>
            </a:pPr>
            <a:r>
              <a:rPr lang="ru-RU" dirty="0"/>
              <a:t>Първо текстът се почиства от някои OCR грешки, поссле се обхождат всички Е-номера, проверявайки всеки по няколко начина на изписване, и се добавят като «открити». </a:t>
            </a:r>
          </a:p>
          <a:p>
            <a:pPr marL="0" lvl="0" indent="0">
              <a:buNone/>
            </a:pPr>
            <a:r>
              <a:rPr lang="ru-RU" dirty="0"/>
              <a:t>Накрая се проверяват и скритите химични номера (напр. натриев нитрит)</a:t>
            </a:r>
            <a:endParaRPr dirty="0"/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74276EFB-6657-DC2E-4F46-FAD93B1BF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0751" y="1105209"/>
            <a:ext cx="411208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Основни функции- </a:t>
            </a:r>
            <a:r>
              <a:rPr lang="en-US" sz="2400" dirty="0"/>
              <a:t>scan_for_e_numbers</a:t>
            </a:r>
            <a:br>
              <a:rPr lang="en-US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F44E36-AE35-D99B-E89C-8EB66BCBD8E1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A7890-DAFA-923F-CC70-41A4F86A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2031"/>
            <a:ext cx="4367842" cy="314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7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381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EC1D112E-28D9-50BD-1262-EDB6AD11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A5E3D65C-8402-A370-E3E6-D53BC8EB8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0224" y="2038802"/>
            <a:ext cx="4022001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b="1" dirty="0"/>
              <a:t>scan_for_keywords()</a:t>
            </a:r>
            <a:r>
              <a:rPr lang="ru-RU" dirty="0"/>
              <a:t> проверява извлечения текст за рискови съставки, които не са написани като Е-номера.</a:t>
            </a:r>
            <a:r>
              <a:rPr lang="en-US" dirty="0"/>
              <a:t> </a:t>
            </a:r>
            <a:r>
              <a:rPr lang="ru-RU" dirty="0"/>
              <a:t>Първо текстът се почиства и се превръща в малки букви, за да няма значение дали думата е написана с главни или малки букви.</a:t>
            </a:r>
            <a:r>
              <a:rPr lang="en-US" dirty="0"/>
              <a:t> </a:t>
            </a:r>
            <a:r>
              <a:rPr lang="ru-RU" dirty="0"/>
              <a:t>После, списъкът с ключови думи се обхожда и се търсят съвпадения като: палмово масло, лактоза и т.н. Ако бъде намерена такава дума, тя се добавя към резултатите с кратко описание.</a:t>
            </a:r>
            <a:endParaRPr dirty="0"/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E2D36F33-641F-29E6-E985-A12DF7A59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0751" y="1105209"/>
            <a:ext cx="411208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Основни функции- </a:t>
            </a:r>
            <a:r>
              <a:rPr lang="en-US" sz="2400" dirty="0" err="1"/>
              <a:t>scan_for_keywords</a:t>
            </a:r>
            <a:br>
              <a:rPr lang="en-US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EDEF2-CB72-78AB-5C48-7BCDCE7DD86E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B3FD8-88FA-5AE9-F3BD-9AFFA55E0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604" y="2038802"/>
            <a:ext cx="4750420" cy="170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8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381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39508468-E27C-F79D-237C-8346C139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F60A82E1-6888-6E34-C218-E6F8D51FB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98850" y="2038802"/>
            <a:ext cx="5270808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b="1" dirty="0"/>
              <a:t>generate_report_content()</a:t>
            </a:r>
            <a:r>
              <a:rPr lang="ru-RU" dirty="0"/>
              <a:t> създава финален текстов доклад след анализа на етикета с 3 основни части: </a:t>
            </a:r>
          </a:p>
          <a:p>
            <a:pPr marL="342900" lvl="0" indent="-342900">
              <a:buAutoNum type="arabicPeriod"/>
            </a:pPr>
            <a:r>
              <a:rPr lang="ru-RU" b="1" dirty="0"/>
              <a:t>Извлечен текст </a:t>
            </a:r>
            <a:r>
              <a:rPr lang="ru-RU" dirty="0"/>
              <a:t>(показва текста, разпознат от OCR. </a:t>
            </a:r>
          </a:p>
          <a:p>
            <a:pPr marL="342900" lvl="0" indent="-342900">
              <a:buAutoNum type="arabicPeriod"/>
            </a:pPr>
            <a:r>
              <a:rPr lang="ru-RU" dirty="0"/>
              <a:t> </a:t>
            </a:r>
            <a:r>
              <a:rPr lang="ru-RU" b="1" dirty="0"/>
              <a:t>Открити съставки </a:t>
            </a:r>
            <a:r>
              <a:rPr lang="ru-RU" dirty="0"/>
              <a:t>(добавя намерени Е-номера и ключови думи с кратко описание.</a:t>
            </a:r>
          </a:p>
          <a:p>
            <a:pPr marL="0" lvl="0" indent="0">
              <a:buNone/>
            </a:pPr>
            <a:r>
              <a:rPr lang="ru-RU" b="1" dirty="0"/>
              <a:t>3. Здравословни алтернативи</a:t>
            </a:r>
            <a:r>
              <a:rPr lang="ru-RU" dirty="0"/>
              <a:t>. Накрая добавя предложения за по-добър избор на храна. </a:t>
            </a:r>
            <a:endParaRPr lang="ru-RU" b="1" dirty="0"/>
          </a:p>
          <a:p>
            <a:pPr marL="0" lvl="0" indent="0">
              <a:buNone/>
            </a:pPr>
            <a:r>
              <a:rPr lang="ru-RU" b="1" dirty="0"/>
              <a:t>Идеята:</a:t>
            </a:r>
            <a:r>
              <a:rPr lang="ru-RU" dirty="0"/>
              <a:t> Потребителят не получава само списък с грешки, а готов и разбираем доклад, който може да бъде изтеглен като .txt файл.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F857D-9A21-664E-7ED2-B13F53BE6AFC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8E2F8-E371-DAF6-1E45-6D6A3E80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4121"/>
            <a:ext cx="3798849" cy="4140262"/>
          </a:xfrm>
          <a:prstGeom prst="rect">
            <a:avLst/>
          </a:prstGeom>
        </p:spPr>
      </p:pic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C0FEE5A9-9242-18FE-8FEE-614A8F134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7141" y="963963"/>
            <a:ext cx="5642517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Основни функции- </a:t>
            </a:r>
            <a:r>
              <a:rPr lang="en-US" dirty="0" err="1"/>
              <a:t>generate_report_content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5435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build="p"/>
      <p:bldP spid="2" grpId="0"/>
      <p:bldP spid="3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E7BCAC84-E0A9-CCBD-B397-C4D1C0B9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A5D625F6-5A2E-9B25-06B5-441580917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8528" y="1399014"/>
            <a:ext cx="6155472" cy="4615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ru-RU" b="1" dirty="0"/>
              <a:t> </a:t>
            </a:r>
            <a:r>
              <a:rPr lang="en-US" b="1" dirty="0"/>
              <a:t>main() </a:t>
            </a:r>
            <a:r>
              <a:rPr lang="ru-RU" dirty="0"/>
              <a:t>управлява цялото приложение — от качването на снимката до показване на</a:t>
            </a:r>
            <a:r>
              <a:rPr lang="en-US" dirty="0"/>
              <a:t> </a:t>
            </a:r>
            <a:r>
              <a:rPr lang="ru-RU" dirty="0"/>
              <a:t>резултатите.</a:t>
            </a:r>
          </a:p>
          <a:p>
            <a:pPr>
              <a:buNone/>
            </a:pPr>
            <a:r>
              <a:rPr lang="ru-RU" dirty="0"/>
              <a:t>Първо се настройва уеб страницата и се зарежда OCR моделът. След това се</a:t>
            </a:r>
            <a:r>
              <a:rPr lang="en-US" dirty="0"/>
              <a:t> </a:t>
            </a:r>
            <a:r>
              <a:rPr lang="ru-RU" dirty="0"/>
              <a:t>избира дали да качи снимка от файл, или да се направи снимка с камера.</a:t>
            </a:r>
          </a:p>
          <a:p>
            <a:pPr>
              <a:buNone/>
            </a:pPr>
            <a:r>
              <a:rPr lang="ru-RU" dirty="0"/>
              <a:t>Когато се натисне бутонът </a:t>
            </a:r>
            <a:r>
              <a:rPr lang="ru-RU" b="1" dirty="0"/>
              <a:t>Analyze Label</a:t>
            </a:r>
            <a:r>
              <a:rPr lang="ru-RU" dirty="0"/>
              <a:t>, приложението:</a:t>
            </a:r>
          </a:p>
          <a:p>
            <a:pPr>
              <a:buNone/>
            </a:pPr>
            <a:r>
              <a:rPr lang="ru-RU" b="1" dirty="0"/>
              <a:t>1. Преобразува изображението</a:t>
            </a:r>
            <a:br>
              <a:rPr lang="ru-RU" dirty="0"/>
            </a:br>
            <a:r>
              <a:rPr lang="ru-RU" dirty="0"/>
              <a:t>Снимката се превръща във формат, подходящ за обработка.</a:t>
            </a:r>
          </a:p>
          <a:p>
            <a:pPr>
              <a:buNone/>
            </a:pPr>
            <a:r>
              <a:rPr lang="ru-RU" b="1" dirty="0"/>
              <a:t>2. Извлича текста - </a:t>
            </a:r>
            <a:r>
              <a:rPr lang="ru-RU" dirty="0"/>
              <a:t>EasyOCR разпознава думите от етикета.</a:t>
            </a:r>
          </a:p>
          <a:p>
            <a:pPr>
              <a:buNone/>
            </a:pPr>
            <a:r>
              <a:rPr lang="ru-RU" b="1" dirty="0"/>
              <a:t>3. Анализира съставките - </a:t>
            </a:r>
            <a:r>
              <a:rPr lang="ru-RU" dirty="0"/>
              <a:t>Извикват се функциите за търсене на Е-номера и ключови думи.</a:t>
            </a:r>
          </a:p>
          <a:p>
            <a:pPr>
              <a:buNone/>
            </a:pPr>
            <a:r>
              <a:rPr lang="ru-RU" b="1" dirty="0"/>
              <a:t>4. Показва резултатите - </a:t>
            </a:r>
            <a:r>
              <a:rPr lang="ru-RU" dirty="0"/>
              <a:t>Накрая се визуализират откритите съставки, обясненията, алтернативите и бутон за изтегляне на доклад.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285D2-4FA0-24CA-C665-BFA405BC4E54}"/>
              </a:ext>
            </a:extLst>
          </p:cNvPr>
          <p:cNvSpPr txBox="1"/>
          <p:nvPr/>
        </p:nvSpPr>
        <p:spPr>
          <a:xfrm>
            <a:off x="1449659" y="460919"/>
            <a:ext cx="600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1837A89F-753C-D3A3-B9F0-7F2451B6A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7141" y="963963"/>
            <a:ext cx="5642517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Основни функции- </a:t>
            </a:r>
            <a:r>
              <a:rPr lang="en-US" dirty="0"/>
              <a:t>main</a:t>
            </a:r>
            <a:br>
              <a:rPr lang="en-US" dirty="0"/>
            </a:b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9573E-5AC0-3D73-C61D-57F45D56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480" y="963963"/>
            <a:ext cx="3507621" cy="417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1BB6FACF-AA4A-06FE-ADFE-14D567EC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67552B-5885-0C23-B3D0-C95D0010BF67}"/>
              </a:ext>
            </a:extLst>
          </p:cNvPr>
          <p:cNvSpPr txBox="1"/>
          <p:nvPr/>
        </p:nvSpPr>
        <p:spPr>
          <a:xfrm>
            <a:off x="4296937" y="475788"/>
            <a:ext cx="5136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00FFC5"/>
                </a:solidFill>
                <a:latin typeface="Overpass Mono" panose="020B0604020202020204" charset="0"/>
              </a:rPr>
              <a:t>Структура на програмата</a:t>
            </a:r>
            <a:endParaRPr lang="en-US" sz="3000" b="1" dirty="0">
              <a:solidFill>
                <a:srgbClr val="00FFC5"/>
              </a:solidFill>
              <a:latin typeface="Overpass Mono" panose="020B0604020202020204" charset="0"/>
            </a:endParaRPr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F6D94241-F3FE-B1F3-0457-AB976DE77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2995" y="1410011"/>
            <a:ext cx="5642517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Основни функции- </a:t>
            </a:r>
            <a:r>
              <a:rPr lang="en-US" dirty="0"/>
              <a:t>main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9C019-B06A-9299-827F-2BB1DE52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743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15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222923" y="1809750"/>
            <a:ext cx="4415984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 да проверим дали приложението работи правилно, тествахме различни хранителни продукти: пражка шунка, луканка, шоколадово-зърнен продукт и други пакетирани храни. Избрахме продукти с различни етикети, защото някои съдържат Е-номера, други — химични имена, консерванти, мазнини и т.н. Това ни помогна да проверим дали алгоритъмът работи не само с един пример, а с различни реални продукти.</a:t>
            </a:r>
            <a:endParaRPr dirty="0"/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1409713" y="83476"/>
            <a:ext cx="6115038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2"/>
                </a:solidFill>
              </a:rPr>
              <a:t>Тестване на приложението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01409-35D1-BC8D-96CE-94E93F894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15" r="31850"/>
          <a:stretch>
            <a:fillRect/>
          </a:stretch>
        </p:blipFill>
        <p:spPr>
          <a:xfrm>
            <a:off x="4701135" y="648362"/>
            <a:ext cx="1745665" cy="4453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145196-AB5B-F53C-D8A4-AABF41492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28" y="536852"/>
            <a:ext cx="1690835" cy="1993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D0EBB-98C7-06C2-9422-5DEA88E26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689" y="2571750"/>
            <a:ext cx="1545512" cy="2542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build="p"/>
      <p:bldP spid="3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"/>
          <p:cNvSpPr/>
          <p:nvPr/>
        </p:nvSpPr>
        <p:spPr>
          <a:xfrm>
            <a:off x="0" y="2123344"/>
            <a:ext cx="3504300" cy="154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6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Резултати от анализа</a:t>
            </a:r>
            <a:endParaRPr dirty="0"/>
          </a:p>
        </p:txBody>
      </p:sp>
      <p:sp>
        <p:nvSpPr>
          <p:cNvPr id="694" name="Google Shape;694;p46"/>
          <p:cNvSpPr txBox="1">
            <a:spLocks noGrp="1"/>
          </p:cNvSpPr>
          <p:nvPr>
            <p:ph type="subTitle" idx="4294967295"/>
          </p:nvPr>
        </p:nvSpPr>
        <p:spPr>
          <a:xfrm flipH="1">
            <a:off x="-109302" y="2872710"/>
            <a:ext cx="3613599" cy="44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разпозна текст от етикети и откри различни потенциално рискови съставки.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95" name="Google Shape;695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1316950"/>
            <a:ext cx="2697600" cy="273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2"/>
                </a:solidFill>
              </a:rPr>
              <a:t>Е-номера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6" name="Google Shape;696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00" y="1603325"/>
            <a:ext cx="2698800" cy="273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Бяха открити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697" name="Google Shape;697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2180501"/>
            <a:ext cx="2697600" cy="274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2"/>
                </a:solidFill>
              </a:rPr>
              <a:t>Консерванти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8" name="Google Shape;698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2465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Бяха открити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699" name="Google Shape;699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39551" y="30975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2"/>
                </a:solidFill>
              </a:rPr>
              <a:t>Палмово масло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0" name="Google Shape;700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3382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Беше открито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701" name="Google Shape;701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74" y="3953551"/>
            <a:ext cx="3483285" cy="274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2"/>
                </a:solidFill>
              </a:rPr>
              <a:t>Други ключови думи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2" name="Google Shape;702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423815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Бяха открити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703" name="Google Shape;703;p46"/>
          <p:cNvSpPr/>
          <p:nvPr/>
        </p:nvSpPr>
        <p:spPr>
          <a:xfrm>
            <a:off x="0" y="2610900"/>
            <a:ext cx="1785055" cy="18875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6"/>
          <p:cNvSpPr txBox="1">
            <a:spLocks noGrp="1"/>
          </p:cNvSpPr>
          <p:nvPr>
            <p:ph type="ctrTitle" idx="4294967295"/>
          </p:nvPr>
        </p:nvSpPr>
        <p:spPr>
          <a:xfrm flipH="1">
            <a:off x="1068670" y="2465100"/>
            <a:ext cx="2435700" cy="39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1"/>
                </a:solidFill>
              </a:rPr>
              <a:t>Успешно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705" name="Google Shape;705;p46"/>
          <p:cNvSpPr/>
          <p:nvPr/>
        </p:nvSpPr>
        <p:spPr>
          <a:xfrm flipH="1">
            <a:off x="1165475" y="3815600"/>
            <a:ext cx="2338825" cy="133867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6"/>
          <p:cNvSpPr/>
          <p:nvPr/>
        </p:nvSpPr>
        <p:spPr>
          <a:xfrm flipH="1">
            <a:off x="5500" y="3815594"/>
            <a:ext cx="1159976" cy="13389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6"/>
          <p:cNvSpPr/>
          <p:nvPr/>
        </p:nvSpPr>
        <p:spPr>
          <a:xfrm flipH="1">
            <a:off x="1198717" y="4037295"/>
            <a:ext cx="1710557" cy="13389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6"/>
          <p:cNvSpPr/>
          <p:nvPr/>
        </p:nvSpPr>
        <p:spPr>
          <a:xfrm flipH="1">
            <a:off x="1198727" y="4037295"/>
            <a:ext cx="497188" cy="13389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6"/>
          <p:cNvSpPr/>
          <p:nvPr/>
        </p:nvSpPr>
        <p:spPr>
          <a:xfrm flipH="1">
            <a:off x="5505" y="4037295"/>
            <a:ext cx="579996" cy="13389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6"/>
          <p:cNvSpPr/>
          <p:nvPr/>
        </p:nvSpPr>
        <p:spPr>
          <a:xfrm flipH="1">
            <a:off x="933688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6"/>
          <p:cNvSpPr/>
          <p:nvPr/>
        </p:nvSpPr>
        <p:spPr>
          <a:xfrm flipH="1">
            <a:off x="720893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6"/>
          <p:cNvSpPr/>
          <p:nvPr/>
        </p:nvSpPr>
        <p:spPr>
          <a:xfrm flipH="1">
            <a:off x="5508" y="4258997"/>
            <a:ext cx="133878" cy="13389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6"/>
          <p:cNvSpPr/>
          <p:nvPr/>
        </p:nvSpPr>
        <p:spPr>
          <a:xfrm flipH="1">
            <a:off x="246918" y="4258997"/>
            <a:ext cx="1367368" cy="13389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4" name="Google Shape;714;p46"/>
          <p:cNvCxnSpPr/>
          <p:nvPr/>
        </p:nvCxnSpPr>
        <p:spPr>
          <a:xfrm rot="10800000" flipH="1">
            <a:off x="3351874" y="1570575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5" name="Google Shape;715;p46"/>
          <p:cNvCxnSpPr/>
          <p:nvPr/>
        </p:nvCxnSpPr>
        <p:spPr>
          <a:xfrm rot="10800000" flipH="1">
            <a:off x="3351874" y="24552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6" name="Google Shape;716;p46"/>
          <p:cNvCxnSpPr/>
          <p:nvPr/>
        </p:nvCxnSpPr>
        <p:spPr>
          <a:xfrm>
            <a:off x="3351874" y="28974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7" name="Google Shape;717;p46"/>
          <p:cNvCxnSpPr/>
          <p:nvPr/>
        </p:nvCxnSpPr>
        <p:spPr>
          <a:xfrm>
            <a:off x="3351874" y="2897513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" grpId="0"/>
      <p:bldP spid="695" grpId="0"/>
      <p:bldP spid="696" grpId="0" build="p"/>
      <p:bldP spid="697" grpId="0"/>
      <p:bldP spid="698" grpId="0" build="p"/>
      <p:bldP spid="699" grpId="0"/>
      <p:bldP spid="700" grpId="0" build="p"/>
      <p:bldP spid="701" grpId="0"/>
      <p:bldP spid="702" grpId="0" build="p"/>
      <p:bldP spid="70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7"/>
          <p:cNvSpPr txBox="1">
            <a:spLocks noGrp="1"/>
          </p:cNvSpPr>
          <p:nvPr>
            <p:ph type="title"/>
          </p:nvPr>
        </p:nvSpPr>
        <p:spPr>
          <a:xfrm>
            <a:off x="1374692" y="35063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Предимства и ограничения</a:t>
            </a:r>
            <a:endParaRPr dirty="0"/>
          </a:p>
        </p:txBody>
      </p:sp>
      <p:sp>
        <p:nvSpPr>
          <p:cNvPr id="723" name="Google Shape;723;p47"/>
          <p:cNvSpPr txBox="1">
            <a:spLocks noGrp="1"/>
          </p:cNvSpPr>
          <p:nvPr>
            <p:ph type="subTitle" idx="1"/>
          </p:nvPr>
        </p:nvSpPr>
        <p:spPr>
          <a:xfrm>
            <a:off x="2646050" y="3109000"/>
            <a:ext cx="2481300" cy="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Приложението е лесно за използване, работи през браузър и не изисква специални технически знания.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4" name="Google Shape;724;p47"/>
          <p:cNvSpPr txBox="1">
            <a:spLocks noGrp="1"/>
          </p:cNvSpPr>
          <p:nvPr>
            <p:ph type="title" idx="2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Предимства</a:t>
            </a:r>
            <a:endParaRPr dirty="0"/>
          </a:p>
        </p:txBody>
      </p:sp>
      <p:sp>
        <p:nvSpPr>
          <p:cNvPr id="725" name="Google Shape;725;p47"/>
          <p:cNvSpPr txBox="1">
            <a:spLocks noGrp="1"/>
          </p:cNvSpPr>
          <p:nvPr>
            <p:ph type="subTitle" idx="3"/>
          </p:nvPr>
        </p:nvSpPr>
        <p:spPr>
          <a:xfrm>
            <a:off x="5754030" y="3109000"/>
            <a:ext cx="2735766" cy="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Качеството на резултата зависи от снимката. Ако етикетът е размазан, тъмен или силно наклонен, OCR може да (и ще) допусне грешки.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6" name="Google Shape;726;p47"/>
          <p:cNvSpPr txBox="1">
            <a:spLocks noGrp="1"/>
          </p:cNvSpPr>
          <p:nvPr>
            <p:ph type="title" idx="4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Ограничения</a:t>
            </a:r>
            <a:endParaRPr dirty="0"/>
          </a:p>
        </p:txBody>
      </p:sp>
      <p:pic>
        <p:nvPicPr>
          <p:cNvPr id="727" name="Google Shape;727;p47"/>
          <p:cNvPicPr preferRelativeResize="0"/>
          <p:nvPr/>
        </p:nvPicPr>
        <p:blipFill rotWithShape="1">
          <a:blip r:embed="rId3">
            <a:alphaModFix/>
          </a:blip>
          <a:srcRect l="61241" r="15108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8" name="Google Shape;728;p47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729" name="Google Shape;729;p47"/>
            <p:cNvSpPr/>
            <p:nvPr/>
          </p:nvSpPr>
          <p:spPr>
            <a:xfrm>
              <a:off x="1937576" y="4600809"/>
              <a:ext cx="234129" cy="75728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1394514" y="4600809"/>
              <a:ext cx="440870" cy="75728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1156673" y="4725738"/>
              <a:ext cx="474774" cy="75767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1718307" y="4725738"/>
              <a:ext cx="453393" cy="75767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1536688" y="4850706"/>
              <a:ext cx="635008" cy="75299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47"/>
          <p:cNvGrpSpPr/>
          <p:nvPr/>
        </p:nvGrpSpPr>
        <p:grpSpPr>
          <a:xfrm>
            <a:off x="6919921" y="1718967"/>
            <a:ext cx="526759" cy="584845"/>
            <a:chOff x="5415892" y="1465405"/>
            <a:chExt cx="526759" cy="584845"/>
          </a:xfrm>
        </p:grpSpPr>
        <p:sp>
          <p:nvSpPr>
            <p:cNvPr id="735" name="Google Shape;735;p47"/>
            <p:cNvSpPr/>
            <p:nvPr/>
          </p:nvSpPr>
          <p:spPr>
            <a:xfrm>
              <a:off x="5553530" y="1720587"/>
              <a:ext cx="389121" cy="278618"/>
            </a:xfrm>
            <a:custGeom>
              <a:avLst/>
              <a:gdLst/>
              <a:ahLst/>
              <a:cxnLst/>
              <a:rect l="l" t="t" r="r" b="b"/>
              <a:pathLst>
                <a:path w="9895" h="7085" extrusionOk="0">
                  <a:moveTo>
                    <a:pt x="5513" y="0"/>
                  </a:moveTo>
                  <a:cubicBezTo>
                    <a:pt x="4382" y="0"/>
                    <a:pt x="3382" y="750"/>
                    <a:pt x="3048" y="1810"/>
                  </a:cubicBezTo>
                  <a:lnTo>
                    <a:pt x="3001" y="1965"/>
                  </a:lnTo>
                  <a:lnTo>
                    <a:pt x="2846" y="1953"/>
                  </a:lnTo>
                  <a:cubicBezTo>
                    <a:pt x="2751" y="1941"/>
                    <a:pt x="2667" y="1941"/>
                    <a:pt x="2572" y="1941"/>
                  </a:cubicBezTo>
                  <a:cubicBezTo>
                    <a:pt x="1155" y="1941"/>
                    <a:pt x="0" y="3096"/>
                    <a:pt x="0" y="4513"/>
                  </a:cubicBezTo>
                  <a:cubicBezTo>
                    <a:pt x="0" y="5929"/>
                    <a:pt x="1155" y="7084"/>
                    <a:pt x="2572" y="7084"/>
                  </a:cubicBezTo>
                  <a:lnTo>
                    <a:pt x="7323" y="7084"/>
                  </a:lnTo>
                  <a:cubicBezTo>
                    <a:pt x="8740" y="7084"/>
                    <a:pt x="9895" y="5929"/>
                    <a:pt x="9895" y="4513"/>
                  </a:cubicBezTo>
                  <a:cubicBezTo>
                    <a:pt x="9895" y="3393"/>
                    <a:pt x="9180" y="2417"/>
                    <a:pt x="8132" y="2060"/>
                  </a:cubicBezTo>
                  <a:lnTo>
                    <a:pt x="8025" y="2036"/>
                  </a:lnTo>
                  <a:lnTo>
                    <a:pt x="8001" y="1929"/>
                  </a:lnTo>
                  <a:cubicBezTo>
                    <a:pt x="7716" y="798"/>
                    <a:pt x="6680" y="0"/>
                    <a:pt x="5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5415892" y="1465405"/>
              <a:ext cx="347436" cy="503360"/>
            </a:xfrm>
            <a:custGeom>
              <a:avLst/>
              <a:gdLst/>
              <a:ahLst/>
              <a:cxnLst/>
              <a:rect l="l" t="t" r="r" b="b"/>
              <a:pathLst>
                <a:path w="8835" h="12800" extrusionOk="0">
                  <a:moveTo>
                    <a:pt x="4417" y="977"/>
                  </a:moveTo>
                  <a:cubicBezTo>
                    <a:pt x="6548" y="977"/>
                    <a:pt x="7858" y="1679"/>
                    <a:pt x="7858" y="2060"/>
                  </a:cubicBezTo>
                  <a:cubicBezTo>
                    <a:pt x="7858" y="2441"/>
                    <a:pt x="6548" y="3143"/>
                    <a:pt x="4417" y="3143"/>
                  </a:cubicBezTo>
                  <a:cubicBezTo>
                    <a:pt x="2286" y="3143"/>
                    <a:pt x="976" y="2441"/>
                    <a:pt x="976" y="2060"/>
                  </a:cubicBezTo>
                  <a:cubicBezTo>
                    <a:pt x="976" y="1679"/>
                    <a:pt x="2286" y="977"/>
                    <a:pt x="4417" y="977"/>
                  </a:cubicBezTo>
                  <a:close/>
                  <a:moveTo>
                    <a:pt x="7644" y="4358"/>
                  </a:moveTo>
                  <a:cubicBezTo>
                    <a:pt x="7787" y="4477"/>
                    <a:pt x="7858" y="4584"/>
                    <a:pt x="7858" y="4679"/>
                  </a:cubicBezTo>
                  <a:cubicBezTo>
                    <a:pt x="7858" y="5060"/>
                    <a:pt x="6548" y="5763"/>
                    <a:pt x="4417" y="5763"/>
                  </a:cubicBezTo>
                  <a:cubicBezTo>
                    <a:pt x="2286" y="5763"/>
                    <a:pt x="976" y="5060"/>
                    <a:pt x="976" y="4679"/>
                  </a:cubicBezTo>
                  <a:cubicBezTo>
                    <a:pt x="976" y="4584"/>
                    <a:pt x="1048" y="4477"/>
                    <a:pt x="1203" y="4358"/>
                  </a:cubicBezTo>
                  <a:cubicBezTo>
                    <a:pt x="2060" y="4763"/>
                    <a:pt x="3262" y="4977"/>
                    <a:pt x="4417" y="4977"/>
                  </a:cubicBezTo>
                  <a:cubicBezTo>
                    <a:pt x="5572" y="4977"/>
                    <a:pt x="6775" y="4763"/>
                    <a:pt x="7644" y="4358"/>
                  </a:cubicBezTo>
                  <a:close/>
                  <a:moveTo>
                    <a:pt x="4417" y="0"/>
                  </a:moveTo>
                  <a:cubicBezTo>
                    <a:pt x="2274" y="0"/>
                    <a:pt x="0" y="726"/>
                    <a:pt x="0" y="2060"/>
                  </a:cubicBezTo>
                  <a:lnTo>
                    <a:pt x="0" y="3120"/>
                  </a:lnTo>
                  <a:lnTo>
                    <a:pt x="12" y="3143"/>
                  </a:lnTo>
                  <a:cubicBezTo>
                    <a:pt x="60" y="3382"/>
                    <a:pt x="191" y="3608"/>
                    <a:pt x="381" y="3810"/>
                  </a:cubicBezTo>
                  <a:cubicBezTo>
                    <a:pt x="143" y="4060"/>
                    <a:pt x="0" y="4346"/>
                    <a:pt x="0" y="4679"/>
                  </a:cubicBezTo>
                  <a:lnTo>
                    <a:pt x="0" y="5739"/>
                  </a:lnTo>
                  <a:lnTo>
                    <a:pt x="12" y="5763"/>
                  </a:lnTo>
                  <a:cubicBezTo>
                    <a:pt x="60" y="6001"/>
                    <a:pt x="191" y="6227"/>
                    <a:pt x="381" y="6430"/>
                  </a:cubicBezTo>
                  <a:cubicBezTo>
                    <a:pt x="143" y="6680"/>
                    <a:pt x="0" y="6965"/>
                    <a:pt x="0" y="7299"/>
                  </a:cubicBezTo>
                  <a:lnTo>
                    <a:pt x="0" y="8358"/>
                  </a:lnTo>
                  <a:lnTo>
                    <a:pt x="12" y="8382"/>
                  </a:lnTo>
                  <a:cubicBezTo>
                    <a:pt x="60" y="8620"/>
                    <a:pt x="191" y="8847"/>
                    <a:pt x="381" y="9049"/>
                  </a:cubicBezTo>
                  <a:cubicBezTo>
                    <a:pt x="143" y="9299"/>
                    <a:pt x="0" y="9585"/>
                    <a:pt x="0" y="9918"/>
                  </a:cubicBezTo>
                  <a:lnTo>
                    <a:pt x="0" y="10978"/>
                  </a:lnTo>
                  <a:lnTo>
                    <a:pt x="12" y="11002"/>
                  </a:lnTo>
                  <a:cubicBezTo>
                    <a:pt x="226" y="12037"/>
                    <a:pt x="1869" y="12657"/>
                    <a:pt x="3620" y="12799"/>
                  </a:cubicBezTo>
                  <a:cubicBezTo>
                    <a:pt x="3250" y="12299"/>
                    <a:pt x="3024" y="11668"/>
                    <a:pt x="3024" y="11002"/>
                  </a:cubicBezTo>
                  <a:cubicBezTo>
                    <a:pt x="3024" y="10966"/>
                    <a:pt x="3024" y="10930"/>
                    <a:pt x="3024" y="10894"/>
                  </a:cubicBezTo>
                  <a:cubicBezTo>
                    <a:pt x="1726" y="10680"/>
                    <a:pt x="976" y="10204"/>
                    <a:pt x="976" y="9918"/>
                  </a:cubicBezTo>
                  <a:cubicBezTo>
                    <a:pt x="976" y="9823"/>
                    <a:pt x="1048" y="9716"/>
                    <a:pt x="1203" y="9597"/>
                  </a:cubicBezTo>
                  <a:cubicBezTo>
                    <a:pt x="1750" y="9859"/>
                    <a:pt x="2429" y="10037"/>
                    <a:pt x="3155" y="10132"/>
                  </a:cubicBezTo>
                  <a:cubicBezTo>
                    <a:pt x="3369" y="9394"/>
                    <a:pt x="3870" y="8763"/>
                    <a:pt x="4512" y="8382"/>
                  </a:cubicBezTo>
                  <a:lnTo>
                    <a:pt x="4417" y="8382"/>
                  </a:lnTo>
                  <a:cubicBezTo>
                    <a:pt x="2286" y="8382"/>
                    <a:pt x="976" y="7680"/>
                    <a:pt x="976" y="7299"/>
                  </a:cubicBezTo>
                  <a:cubicBezTo>
                    <a:pt x="976" y="7203"/>
                    <a:pt x="1048" y="7096"/>
                    <a:pt x="1203" y="6977"/>
                  </a:cubicBezTo>
                  <a:cubicBezTo>
                    <a:pt x="2060" y="7382"/>
                    <a:pt x="3262" y="7596"/>
                    <a:pt x="4417" y="7596"/>
                  </a:cubicBezTo>
                  <a:cubicBezTo>
                    <a:pt x="5120" y="7596"/>
                    <a:pt x="5834" y="7513"/>
                    <a:pt x="6477" y="7370"/>
                  </a:cubicBezTo>
                  <a:cubicBezTo>
                    <a:pt x="6644" y="7120"/>
                    <a:pt x="6846" y="6906"/>
                    <a:pt x="7072" y="6715"/>
                  </a:cubicBezTo>
                  <a:cubicBezTo>
                    <a:pt x="7549" y="6322"/>
                    <a:pt x="8132" y="6084"/>
                    <a:pt x="8739" y="6025"/>
                  </a:cubicBezTo>
                  <a:cubicBezTo>
                    <a:pt x="8787" y="5941"/>
                    <a:pt x="8811" y="5858"/>
                    <a:pt x="8834" y="5763"/>
                  </a:cubicBezTo>
                  <a:lnTo>
                    <a:pt x="8834" y="4679"/>
                  </a:lnTo>
                  <a:cubicBezTo>
                    <a:pt x="8834" y="4346"/>
                    <a:pt x="8692" y="4060"/>
                    <a:pt x="8453" y="3810"/>
                  </a:cubicBezTo>
                  <a:cubicBezTo>
                    <a:pt x="8656" y="3608"/>
                    <a:pt x="8787" y="3382"/>
                    <a:pt x="8834" y="3143"/>
                  </a:cubicBezTo>
                  <a:lnTo>
                    <a:pt x="8834" y="2060"/>
                  </a:lnTo>
                  <a:cubicBezTo>
                    <a:pt x="8834" y="726"/>
                    <a:pt x="6560" y="0"/>
                    <a:pt x="4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5452858" y="1971128"/>
              <a:ext cx="126941" cy="79122"/>
            </a:xfrm>
            <a:custGeom>
              <a:avLst/>
              <a:gdLst/>
              <a:ahLst/>
              <a:cxnLst/>
              <a:rect l="l" t="t" r="r" b="b"/>
              <a:pathLst>
                <a:path w="3228" h="2012" extrusionOk="0">
                  <a:moveTo>
                    <a:pt x="427" y="1"/>
                  </a:moveTo>
                  <a:cubicBezTo>
                    <a:pt x="384" y="1"/>
                    <a:pt x="341" y="8"/>
                    <a:pt x="298" y="23"/>
                  </a:cubicBezTo>
                  <a:cubicBezTo>
                    <a:pt x="108" y="94"/>
                    <a:pt x="1" y="308"/>
                    <a:pt x="72" y="511"/>
                  </a:cubicBezTo>
                  <a:cubicBezTo>
                    <a:pt x="263" y="1070"/>
                    <a:pt x="667" y="1523"/>
                    <a:pt x="1203" y="1785"/>
                  </a:cubicBezTo>
                  <a:cubicBezTo>
                    <a:pt x="1513" y="1940"/>
                    <a:pt x="1846" y="2011"/>
                    <a:pt x="2179" y="2011"/>
                  </a:cubicBezTo>
                  <a:cubicBezTo>
                    <a:pt x="2429" y="2011"/>
                    <a:pt x="2680" y="1975"/>
                    <a:pt x="2918" y="1892"/>
                  </a:cubicBezTo>
                  <a:cubicBezTo>
                    <a:pt x="3120" y="1821"/>
                    <a:pt x="3227" y="1594"/>
                    <a:pt x="3156" y="1404"/>
                  </a:cubicBezTo>
                  <a:cubicBezTo>
                    <a:pt x="3099" y="1244"/>
                    <a:pt x="2954" y="1144"/>
                    <a:pt x="2795" y="1144"/>
                  </a:cubicBezTo>
                  <a:cubicBezTo>
                    <a:pt x="2753" y="1144"/>
                    <a:pt x="2710" y="1151"/>
                    <a:pt x="2668" y="1166"/>
                  </a:cubicBezTo>
                  <a:cubicBezTo>
                    <a:pt x="2511" y="1221"/>
                    <a:pt x="2349" y="1249"/>
                    <a:pt x="2186" y="1249"/>
                  </a:cubicBezTo>
                  <a:cubicBezTo>
                    <a:pt x="1964" y="1249"/>
                    <a:pt x="1743" y="1197"/>
                    <a:pt x="1537" y="1094"/>
                  </a:cubicBezTo>
                  <a:cubicBezTo>
                    <a:pt x="1191" y="928"/>
                    <a:pt x="917" y="630"/>
                    <a:pt x="786" y="261"/>
                  </a:cubicBezTo>
                  <a:cubicBezTo>
                    <a:pt x="739" y="101"/>
                    <a:pt x="588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5782481" y="1641425"/>
              <a:ext cx="103503" cy="103543"/>
            </a:xfrm>
            <a:custGeom>
              <a:avLst/>
              <a:gdLst/>
              <a:ahLst/>
              <a:cxnLst/>
              <a:rect l="l" t="t" r="r" b="b"/>
              <a:pathLst>
                <a:path w="2632" h="2633" extrusionOk="0">
                  <a:moveTo>
                    <a:pt x="394" y="1"/>
                  </a:moveTo>
                  <a:cubicBezTo>
                    <a:pt x="179" y="1"/>
                    <a:pt x="13" y="168"/>
                    <a:pt x="13" y="382"/>
                  </a:cubicBezTo>
                  <a:cubicBezTo>
                    <a:pt x="1" y="596"/>
                    <a:pt x="179" y="763"/>
                    <a:pt x="394" y="763"/>
                  </a:cubicBezTo>
                  <a:cubicBezTo>
                    <a:pt x="1203" y="775"/>
                    <a:pt x="1858" y="1442"/>
                    <a:pt x="1846" y="2251"/>
                  </a:cubicBezTo>
                  <a:cubicBezTo>
                    <a:pt x="1846" y="2466"/>
                    <a:pt x="2013" y="2632"/>
                    <a:pt x="2227" y="2632"/>
                  </a:cubicBezTo>
                  <a:cubicBezTo>
                    <a:pt x="2441" y="2632"/>
                    <a:pt x="2620" y="2466"/>
                    <a:pt x="2620" y="2263"/>
                  </a:cubicBezTo>
                  <a:cubicBezTo>
                    <a:pt x="2632" y="1025"/>
                    <a:pt x="1632" y="13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9" name="Google Shape;739;p47"/>
          <p:cNvGrpSpPr/>
          <p:nvPr/>
        </p:nvGrpSpPr>
        <p:grpSpPr>
          <a:xfrm>
            <a:off x="3665910" y="1717552"/>
            <a:ext cx="441580" cy="586260"/>
            <a:chOff x="4668125" y="1463989"/>
            <a:chExt cx="441580" cy="586260"/>
          </a:xfrm>
        </p:grpSpPr>
        <p:sp>
          <p:nvSpPr>
            <p:cNvPr id="740" name="Google Shape;740;p47"/>
            <p:cNvSpPr/>
            <p:nvPr/>
          </p:nvSpPr>
          <p:spPr>
            <a:xfrm>
              <a:off x="4668125" y="1463989"/>
              <a:ext cx="441580" cy="313735"/>
            </a:xfrm>
            <a:custGeom>
              <a:avLst/>
              <a:gdLst/>
              <a:ahLst/>
              <a:cxnLst/>
              <a:rect l="l" t="t" r="r" b="b"/>
              <a:pathLst>
                <a:path w="11229" h="7978" extrusionOk="0">
                  <a:moveTo>
                    <a:pt x="6263" y="0"/>
                  </a:moveTo>
                  <a:cubicBezTo>
                    <a:pt x="4870" y="0"/>
                    <a:pt x="3715" y="989"/>
                    <a:pt x="3442" y="2298"/>
                  </a:cubicBezTo>
                  <a:cubicBezTo>
                    <a:pt x="3263" y="2251"/>
                    <a:pt x="3061" y="2239"/>
                    <a:pt x="2870" y="2239"/>
                  </a:cubicBezTo>
                  <a:cubicBezTo>
                    <a:pt x="1287" y="2239"/>
                    <a:pt x="1" y="3525"/>
                    <a:pt x="1" y="5108"/>
                  </a:cubicBezTo>
                  <a:cubicBezTo>
                    <a:pt x="1" y="6692"/>
                    <a:pt x="1287" y="7978"/>
                    <a:pt x="2870" y="7978"/>
                  </a:cubicBezTo>
                  <a:lnTo>
                    <a:pt x="8347" y="7978"/>
                  </a:lnTo>
                  <a:cubicBezTo>
                    <a:pt x="9942" y="7978"/>
                    <a:pt x="11228" y="6692"/>
                    <a:pt x="11228" y="5108"/>
                  </a:cubicBezTo>
                  <a:cubicBezTo>
                    <a:pt x="11228" y="3775"/>
                    <a:pt x="10312" y="2656"/>
                    <a:pt x="9073" y="2334"/>
                  </a:cubicBezTo>
                  <a:cubicBezTo>
                    <a:pt x="8823" y="1001"/>
                    <a:pt x="7656" y="0"/>
                    <a:pt x="6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47"/>
            <p:cNvSpPr/>
            <p:nvPr/>
          </p:nvSpPr>
          <p:spPr>
            <a:xfrm>
              <a:off x="4718697" y="1899438"/>
              <a:ext cx="339965" cy="150811"/>
            </a:xfrm>
            <a:custGeom>
              <a:avLst/>
              <a:gdLst/>
              <a:ahLst/>
              <a:cxnLst/>
              <a:rect l="l" t="t" r="r" b="b"/>
              <a:pathLst>
                <a:path w="8645" h="3835" extrusionOk="0">
                  <a:moveTo>
                    <a:pt x="548" y="0"/>
                  </a:moveTo>
                  <a:cubicBezTo>
                    <a:pt x="251" y="0"/>
                    <a:pt x="1" y="238"/>
                    <a:pt x="1" y="548"/>
                  </a:cubicBezTo>
                  <a:lnTo>
                    <a:pt x="1" y="3286"/>
                  </a:lnTo>
                  <a:cubicBezTo>
                    <a:pt x="1" y="3584"/>
                    <a:pt x="251" y="3834"/>
                    <a:pt x="548" y="3834"/>
                  </a:cubicBezTo>
                  <a:lnTo>
                    <a:pt x="8097" y="3834"/>
                  </a:lnTo>
                  <a:cubicBezTo>
                    <a:pt x="8395" y="3834"/>
                    <a:pt x="8645" y="3584"/>
                    <a:pt x="8645" y="3286"/>
                  </a:cubicBezTo>
                  <a:lnTo>
                    <a:pt x="8645" y="548"/>
                  </a:lnTo>
                  <a:cubicBezTo>
                    <a:pt x="8645" y="238"/>
                    <a:pt x="8395" y="0"/>
                    <a:pt x="8097" y="0"/>
                  </a:cubicBezTo>
                  <a:cubicBezTo>
                    <a:pt x="7787" y="0"/>
                    <a:pt x="7537" y="238"/>
                    <a:pt x="7537" y="548"/>
                  </a:cubicBezTo>
                  <a:lnTo>
                    <a:pt x="7537" y="2727"/>
                  </a:lnTo>
                  <a:lnTo>
                    <a:pt x="1108" y="2727"/>
                  </a:lnTo>
                  <a:lnTo>
                    <a:pt x="1108" y="548"/>
                  </a:lnTo>
                  <a:cubicBezTo>
                    <a:pt x="1108" y="238"/>
                    <a:pt x="858" y="0"/>
                    <a:pt x="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4803915" y="1791254"/>
              <a:ext cx="169530" cy="190608"/>
            </a:xfrm>
            <a:custGeom>
              <a:avLst/>
              <a:gdLst/>
              <a:ahLst/>
              <a:cxnLst/>
              <a:rect l="l" t="t" r="r" b="b"/>
              <a:pathLst>
                <a:path w="4311" h="4847" extrusionOk="0">
                  <a:moveTo>
                    <a:pt x="2156" y="1"/>
                  </a:moveTo>
                  <a:cubicBezTo>
                    <a:pt x="1846" y="1"/>
                    <a:pt x="1608" y="251"/>
                    <a:pt x="1608" y="561"/>
                  </a:cubicBezTo>
                  <a:lnTo>
                    <a:pt x="1608" y="2954"/>
                  </a:lnTo>
                  <a:lnTo>
                    <a:pt x="1001" y="2358"/>
                  </a:lnTo>
                  <a:cubicBezTo>
                    <a:pt x="894" y="2251"/>
                    <a:pt x="754" y="2198"/>
                    <a:pt x="614" y="2198"/>
                  </a:cubicBezTo>
                  <a:cubicBezTo>
                    <a:pt x="474" y="2198"/>
                    <a:pt x="334" y="2251"/>
                    <a:pt x="227" y="2358"/>
                  </a:cubicBezTo>
                  <a:cubicBezTo>
                    <a:pt x="1" y="2573"/>
                    <a:pt x="1" y="2918"/>
                    <a:pt x="227" y="3144"/>
                  </a:cubicBezTo>
                  <a:lnTo>
                    <a:pt x="1763" y="4680"/>
                  </a:lnTo>
                  <a:cubicBezTo>
                    <a:pt x="1870" y="4787"/>
                    <a:pt x="2013" y="4847"/>
                    <a:pt x="2156" y="4847"/>
                  </a:cubicBezTo>
                  <a:cubicBezTo>
                    <a:pt x="2298" y="4847"/>
                    <a:pt x="2441" y="4787"/>
                    <a:pt x="2548" y="4680"/>
                  </a:cubicBezTo>
                  <a:lnTo>
                    <a:pt x="4096" y="3144"/>
                  </a:lnTo>
                  <a:cubicBezTo>
                    <a:pt x="4311" y="2918"/>
                    <a:pt x="4311" y="2573"/>
                    <a:pt x="4096" y="2358"/>
                  </a:cubicBezTo>
                  <a:cubicBezTo>
                    <a:pt x="3983" y="2251"/>
                    <a:pt x="3840" y="2198"/>
                    <a:pt x="3699" y="2198"/>
                  </a:cubicBezTo>
                  <a:cubicBezTo>
                    <a:pt x="3558" y="2198"/>
                    <a:pt x="3418" y="2251"/>
                    <a:pt x="3310" y="2358"/>
                  </a:cubicBezTo>
                  <a:lnTo>
                    <a:pt x="2715" y="2954"/>
                  </a:lnTo>
                  <a:lnTo>
                    <a:pt x="2715" y="561"/>
                  </a:lnTo>
                  <a:cubicBezTo>
                    <a:pt x="2715" y="251"/>
                    <a:pt x="2465" y="1"/>
                    <a:pt x="2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24;p47">
            <a:extLst>
              <a:ext uri="{FF2B5EF4-FFF2-40B4-BE49-F238E27FC236}">
                <a16:creationId xmlns:a16="http://schemas.microsoft.com/office/drawing/2014/main" id="{84C1ECE2-B2F4-AF18-7701-CC3B93D07434}"/>
              </a:ext>
            </a:extLst>
          </p:cNvPr>
          <p:cNvSpPr txBox="1">
            <a:spLocks/>
          </p:cNvSpPr>
          <p:nvPr/>
        </p:nvSpPr>
        <p:spPr>
          <a:xfrm>
            <a:off x="2547952" y="4515798"/>
            <a:ext cx="6172302" cy="52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 b="0" i="0" u="none" strike="noStrike" cap="none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ru-RU" sz="1400" dirty="0"/>
              <a:t>Затова приложението е полезен помощник, но не заменя напълно внимателното четене на етикета.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" grpId="0"/>
      <p:bldP spid="723" grpId="0" build="p"/>
      <p:bldP spid="724" grpId="0" animBg="1"/>
      <p:bldP spid="725" grpId="0" build="p"/>
      <p:bldP spid="726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По-голяма</a:t>
            </a:r>
            <a:endParaRPr dirty="0"/>
          </a:p>
        </p:txBody>
      </p:sp>
      <p:sp>
        <p:nvSpPr>
          <p:cNvPr id="453" name="Google Shape;453;p36"/>
          <p:cNvSpPr txBox="1">
            <a:spLocks noGrp="1"/>
          </p:cNvSpPr>
          <p:nvPr>
            <p:ph type="subTitle" idx="1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ru-RU" dirty="0"/>
              <a:t>база данни от съставки</a:t>
            </a:r>
            <a:endParaRPr dirty="0"/>
          </a:p>
        </p:txBody>
      </p:sp>
      <p:sp>
        <p:nvSpPr>
          <p:cNvPr id="454" name="Google Shape;454;p36"/>
          <p:cNvSpPr txBox="1">
            <a:spLocks noGrp="1"/>
          </p:cNvSpPr>
          <p:nvPr>
            <p:ph type="subTitle" idx="2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ru-RU" dirty="0"/>
              <a:t>разпознаване на снимки и оценка на продукта по степен на риск</a:t>
            </a:r>
            <a:endParaRPr dirty="0"/>
          </a:p>
        </p:txBody>
      </p:sp>
      <p:sp>
        <p:nvSpPr>
          <p:cNvPr id="455" name="Google Shape;455;p36"/>
          <p:cNvSpPr txBox="1">
            <a:spLocks noGrp="1"/>
          </p:cNvSpPr>
          <p:nvPr>
            <p:ph type="title" idx="3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По-добро</a:t>
            </a:r>
            <a:endParaRPr dirty="0"/>
          </a:p>
        </p:txBody>
      </p:sp>
      <p:sp>
        <p:nvSpPr>
          <p:cNvPr id="456" name="Google Shape;456;p36"/>
          <p:cNvSpPr txBox="1">
            <a:spLocks noGrp="1"/>
          </p:cNvSpPr>
          <p:nvPr>
            <p:ph type="subTitle" idx="4"/>
          </p:nvPr>
        </p:nvSpPr>
        <p:spPr>
          <a:xfrm>
            <a:off x="3367668" y="4097311"/>
            <a:ext cx="2352582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 сканираните продукти, както и сравнение между различни храни</a:t>
            </a:r>
            <a:endParaRPr dirty="0"/>
          </a:p>
        </p:txBody>
      </p:sp>
      <p:sp>
        <p:nvSpPr>
          <p:cNvPr id="457" name="Google Shape;457;p36"/>
          <p:cNvSpPr txBox="1">
            <a:spLocks noGrp="1"/>
          </p:cNvSpPr>
          <p:nvPr>
            <p:ph type="title" idx="5"/>
          </p:nvPr>
        </p:nvSpPr>
        <p:spPr>
          <a:xfrm>
            <a:off x="3423750" y="3558989"/>
            <a:ext cx="2296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История</a:t>
            </a:r>
            <a:endParaRPr dirty="0"/>
          </a:p>
        </p:txBody>
      </p:sp>
      <p:sp>
        <p:nvSpPr>
          <p:cNvPr id="2" name="Google Shape;434;p35">
            <a:extLst>
              <a:ext uri="{FF2B5EF4-FFF2-40B4-BE49-F238E27FC236}">
                <a16:creationId xmlns:a16="http://schemas.microsoft.com/office/drawing/2014/main" id="{C4BF57B3-084D-0AF5-B68B-803E2E2ABCB5}"/>
              </a:ext>
            </a:extLst>
          </p:cNvPr>
          <p:cNvSpPr txBox="1">
            <a:spLocks/>
          </p:cNvSpPr>
          <p:nvPr/>
        </p:nvSpPr>
        <p:spPr>
          <a:xfrm>
            <a:off x="1330039" y="155699"/>
            <a:ext cx="658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ru-RU" dirty="0"/>
              <a:t>Бъдещи подобрения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0" animBg="1"/>
      <p:bldP spid="453" grpId="0" build="p"/>
      <p:bldP spid="454" grpId="0" build="p"/>
      <p:bldP spid="455" grpId="0" animBg="1"/>
      <p:bldP spid="456" grpId="0" build="p"/>
      <p:bldP spid="457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9"/>
          <p:cNvSpPr txBox="1">
            <a:spLocks noGrp="1"/>
          </p:cNvSpPr>
          <p:nvPr>
            <p:ph type="body" idx="1"/>
          </p:nvPr>
        </p:nvSpPr>
        <p:spPr>
          <a:xfrm>
            <a:off x="5195902" y="1973025"/>
            <a:ext cx="3366998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Проектът показва как програмирането и ИИ могат да помогнат при решаването на реален ежедневен проблем.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AI Food Label Analyzer прави информацията от етикетите по-разбираема, открива потенциално рискови съставки и предлага по-здравословни алтернативи.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5" name="Google Shape;775;p49"/>
          <p:cNvSpPr txBox="1">
            <a:spLocks noGrp="1"/>
          </p:cNvSpPr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776" name="Google Shape;776;p49"/>
          <p:cNvSpPr/>
          <p:nvPr/>
        </p:nvSpPr>
        <p:spPr>
          <a:xfrm>
            <a:off x="1415384" y="1162091"/>
            <a:ext cx="2992601" cy="2027247"/>
          </a:xfrm>
          <a:custGeom>
            <a:avLst/>
            <a:gdLst/>
            <a:ahLst/>
            <a:cxnLst/>
            <a:rect l="l" t="t" r="r" b="b"/>
            <a:pathLst>
              <a:path w="165841" h="112344" extrusionOk="0">
                <a:moveTo>
                  <a:pt x="6603" y="1"/>
                </a:moveTo>
                <a:cubicBezTo>
                  <a:pt x="3013" y="1"/>
                  <a:pt x="73" y="2917"/>
                  <a:pt x="73" y="6531"/>
                </a:cubicBezTo>
                <a:lnTo>
                  <a:pt x="1" y="110079"/>
                </a:lnTo>
                <a:cubicBezTo>
                  <a:pt x="1" y="111259"/>
                  <a:pt x="940" y="112199"/>
                  <a:pt x="2121" y="112199"/>
                </a:cubicBezTo>
                <a:lnTo>
                  <a:pt x="163624" y="112344"/>
                </a:lnTo>
                <a:cubicBezTo>
                  <a:pt x="164780" y="112344"/>
                  <a:pt x="165744" y="111380"/>
                  <a:pt x="165744" y="110199"/>
                </a:cubicBezTo>
                <a:lnTo>
                  <a:pt x="165841" y="6676"/>
                </a:lnTo>
                <a:cubicBezTo>
                  <a:pt x="165841" y="3061"/>
                  <a:pt x="162901" y="121"/>
                  <a:pt x="159310" y="121"/>
                </a:cubicBezTo>
                <a:lnTo>
                  <a:pt x="6603" y="1"/>
                </a:lnTo>
                <a:close/>
              </a:path>
            </a:pathLst>
          </a:custGeom>
          <a:solidFill>
            <a:srgbClr val="1B1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9"/>
          <p:cNvSpPr/>
          <p:nvPr/>
        </p:nvSpPr>
        <p:spPr>
          <a:xfrm>
            <a:off x="1415384" y="1162091"/>
            <a:ext cx="2992601" cy="2027247"/>
          </a:xfrm>
          <a:custGeom>
            <a:avLst/>
            <a:gdLst/>
            <a:ahLst/>
            <a:cxnLst/>
            <a:rect l="l" t="t" r="r" b="b"/>
            <a:pathLst>
              <a:path w="165841" h="112344" extrusionOk="0">
                <a:moveTo>
                  <a:pt x="6603" y="1"/>
                </a:moveTo>
                <a:cubicBezTo>
                  <a:pt x="3013" y="1"/>
                  <a:pt x="73" y="2917"/>
                  <a:pt x="73" y="6531"/>
                </a:cubicBezTo>
                <a:lnTo>
                  <a:pt x="1" y="110079"/>
                </a:lnTo>
                <a:cubicBezTo>
                  <a:pt x="1" y="111259"/>
                  <a:pt x="940" y="112199"/>
                  <a:pt x="2121" y="112199"/>
                </a:cubicBezTo>
                <a:lnTo>
                  <a:pt x="163624" y="112344"/>
                </a:lnTo>
                <a:cubicBezTo>
                  <a:pt x="164780" y="112344"/>
                  <a:pt x="165744" y="111380"/>
                  <a:pt x="165744" y="110199"/>
                </a:cubicBezTo>
                <a:lnTo>
                  <a:pt x="165841" y="6676"/>
                </a:lnTo>
                <a:cubicBezTo>
                  <a:pt x="165841" y="3061"/>
                  <a:pt x="162901" y="121"/>
                  <a:pt x="159310" y="121"/>
                </a:cubicBezTo>
                <a:lnTo>
                  <a:pt x="66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9"/>
          <p:cNvSpPr/>
          <p:nvPr/>
        </p:nvSpPr>
        <p:spPr>
          <a:xfrm>
            <a:off x="1415384" y="1162091"/>
            <a:ext cx="2992601" cy="2027247"/>
          </a:xfrm>
          <a:custGeom>
            <a:avLst/>
            <a:gdLst/>
            <a:ahLst/>
            <a:cxnLst/>
            <a:rect l="l" t="t" r="r" b="b"/>
            <a:pathLst>
              <a:path w="165841" h="112344" extrusionOk="0">
                <a:moveTo>
                  <a:pt x="6603" y="1"/>
                </a:moveTo>
                <a:cubicBezTo>
                  <a:pt x="3013" y="1"/>
                  <a:pt x="73" y="2917"/>
                  <a:pt x="73" y="6531"/>
                </a:cubicBezTo>
                <a:lnTo>
                  <a:pt x="1" y="110079"/>
                </a:lnTo>
                <a:cubicBezTo>
                  <a:pt x="1" y="111259"/>
                  <a:pt x="940" y="112199"/>
                  <a:pt x="2121" y="112199"/>
                </a:cubicBezTo>
                <a:lnTo>
                  <a:pt x="163624" y="112344"/>
                </a:lnTo>
                <a:cubicBezTo>
                  <a:pt x="164780" y="112344"/>
                  <a:pt x="165744" y="111380"/>
                  <a:pt x="165744" y="110199"/>
                </a:cubicBezTo>
                <a:lnTo>
                  <a:pt x="165841" y="6676"/>
                </a:lnTo>
                <a:cubicBezTo>
                  <a:pt x="165841" y="3061"/>
                  <a:pt x="162901" y="121"/>
                  <a:pt x="159310" y="121"/>
                </a:cubicBezTo>
                <a:lnTo>
                  <a:pt x="66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9"/>
          <p:cNvSpPr/>
          <p:nvPr/>
        </p:nvSpPr>
        <p:spPr>
          <a:xfrm>
            <a:off x="697464" y="3748968"/>
            <a:ext cx="4428441" cy="99157"/>
          </a:xfrm>
          <a:custGeom>
            <a:avLst/>
            <a:gdLst/>
            <a:ahLst/>
            <a:cxnLst/>
            <a:rect l="l" t="t" r="r" b="b"/>
            <a:pathLst>
              <a:path w="245411" h="5495" extrusionOk="0">
                <a:moveTo>
                  <a:pt x="0" y="1"/>
                </a:moveTo>
                <a:lnTo>
                  <a:pt x="0" y="169"/>
                </a:lnTo>
                <a:cubicBezTo>
                  <a:pt x="0" y="3013"/>
                  <a:pt x="2314" y="5326"/>
                  <a:pt x="5157" y="5326"/>
                </a:cubicBezTo>
                <a:lnTo>
                  <a:pt x="240278" y="5495"/>
                </a:lnTo>
                <a:cubicBezTo>
                  <a:pt x="240293" y="5495"/>
                  <a:pt x="240307" y="5495"/>
                  <a:pt x="240322" y="5495"/>
                </a:cubicBezTo>
                <a:cubicBezTo>
                  <a:pt x="243121" y="5495"/>
                  <a:pt x="245411" y="3191"/>
                  <a:pt x="245411" y="362"/>
                </a:cubicBezTo>
                <a:lnTo>
                  <a:pt x="245411" y="193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680069" y="3179323"/>
            <a:ext cx="4462907" cy="597506"/>
          </a:xfrm>
          <a:custGeom>
            <a:avLst/>
            <a:gdLst/>
            <a:ahLst/>
            <a:cxnLst/>
            <a:rect l="l" t="t" r="r" b="b"/>
            <a:pathLst>
              <a:path w="247321" h="33112" extrusionOk="0">
                <a:moveTo>
                  <a:pt x="46147" y="1"/>
                </a:moveTo>
                <a:cubicBezTo>
                  <a:pt x="43328" y="1"/>
                  <a:pt x="39930" y="844"/>
                  <a:pt x="38605" y="1904"/>
                </a:cubicBezTo>
                <a:lnTo>
                  <a:pt x="1350" y="31038"/>
                </a:lnTo>
                <a:cubicBezTo>
                  <a:pt x="0" y="32075"/>
                  <a:pt x="2362" y="32942"/>
                  <a:pt x="6627" y="32942"/>
                </a:cubicBezTo>
                <a:lnTo>
                  <a:pt x="240712" y="33111"/>
                </a:lnTo>
                <a:cubicBezTo>
                  <a:pt x="240770" y="33111"/>
                  <a:pt x="240827" y="33111"/>
                  <a:pt x="240884" y="33111"/>
                </a:cubicBezTo>
                <a:cubicBezTo>
                  <a:pt x="245017" y="33111"/>
                  <a:pt x="247321" y="32253"/>
                  <a:pt x="246013" y="31231"/>
                </a:cubicBezTo>
                <a:lnTo>
                  <a:pt x="209337" y="2025"/>
                </a:lnTo>
                <a:cubicBezTo>
                  <a:pt x="208011" y="989"/>
                  <a:pt x="204662" y="121"/>
                  <a:pt x="201818" y="121"/>
                </a:cubicBezTo>
                <a:lnTo>
                  <a:pt x="46147" y="1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9"/>
          <p:cNvSpPr/>
          <p:nvPr/>
        </p:nvSpPr>
        <p:spPr>
          <a:xfrm>
            <a:off x="2100264" y="3525030"/>
            <a:ext cx="1622841" cy="211776"/>
          </a:xfrm>
          <a:custGeom>
            <a:avLst/>
            <a:gdLst/>
            <a:ahLst/>
            <a:cxnLst/>
            <a:rect l="l" t="t" r="r" b="b"/>
            <a:pathLst>
              <a:path w="89933" h="11736" extrusionOk="0">
                <a:moveTo>
                  <a:pt x="6073" y="0"/>
                </a:moveTo>
                <a:lnTo>
                  <a:pt x="0" y="11664"/>
                </a:lnTo>
                <a:lnTo>
                  <a:pt x="89933" y="11736"/>
                </a:lnTo>
                <a:lnTo>
                  <a:pt x="84101" y="73"/>
                </a:lnTo>
                <a:lnTo>
                  <a:pt x="6073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9"/>
          <p:cNvSpPr/>
          <p:nvPr/>
        </p:nvSpPr>
        <p:spPr>
          <a:xfrm>
            <a:off x="1552364" y="3201501"/>
            <a:ext cx="206128" cy="54803"/>
          </a:xfrm>
          <a:custGeom>
            <a:avLst/>
            <a:gdLst/>
            <a:ahLst/>
            <a:cxnLst/>
            <a:rect l="l" t="t" r="r" b="b"/>
            <a:pathLst>
              <a:path w="11423" h="3037" extrusionOk="0">
                <a:moveTo>
                  <a:pt x="3928" y="1"/>
                </a:moveTo>
                <a:cubicBezTo>
                  <a:pt x="3519" y="1"/>
                  <a:pt x="3061" y="121"/>
                  <a:pt x="2916" y="266"/>
                </a:cubicBezTo>
                <a:lnTo>
                  <a:pt x="169" y="2748"/>
                </a:lnTo>
                <a:cubicBezTo>
                  <a:pt x="0" y="2916"/>
                  <a:pt x="217" y="3013"/>
                  <a:pt x="627" y="3013"/>
                </a:cubicBezTo>
                <a:lnTo>
                  <a:pt x="7808" y="3037"/>
                </a:lnTo>
                <a:cubicBezTo>
                  <a:pt x="8242" y="3037"/>
                  <a:pt x="8700" y="2916"/>
                  <a:pt x="8844" y="2772"/>
                </a:cubicBezTo>
                <a:lnTo>
                  <a:pt x="11278" y="266"/>
                </a:lnTo>
                <a:cubicBezTo>
                  <a:pt x="11423" y="121"/>
                  <a:pt x="11206" y="1"/>
                  <a:pt x="10796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9"/>
          <p:cNvSpPr/>
          <p:nvPr/>
        </p:nvSpPr>
        <p:spPr>
          <a:xfrm>
            <a:off x="1735863" y="3201501"/>
            <a:ext cx="198315" cy="54803"/>
          </a:xfrm>
          <a:custGeom>
            <a:avLst/>
            <a:gdLst/>
            <a:ahLst/>
            <a:cxnLst/>
            <a:rect l="l" t="t" r="r" b="b"/>
            <a:pathLst>
              <a:path w="10990" h="3037" extrusionOk="0">
                <a:moveTo>
                  <a:pt x="3495" y="1"/>
                </a:moveTo>
                <a:cubicBezTo>
                  <a:pt x="3085" y="1"/>
                  <a:pt x="2651" y="121"/>
                  <a:pt x="2507" y="266"/>
                </a:cubicBezTo>
                <a:lnTo>
                  <a:pt x="121" y="2772"/>
                </a:lnTo>
                <a:cubicBezTo>
                  <a:pt x="1" y="2916"/>
                  <a:pt x="217" y="3037"/>
                  <a:pt x="651" y="3037"/>
                </a:cubicBezTo>
                <a:lnTo>
                  <a:pt x="7832" y="3037"/>
                </a:lnTo>
                <a:cubicBezTo>
                  <a:pt x="8242" y="3037"/>
                  <a:pt x="8676" y="2916"/>
                  <a:pt x="8796" y="2772"/>
                </a:cubicBezTo>
                <a:lnTo>
                  <a:pt x="10869" y="266"/>
                </a:lnTo>
                <a:cubicBezTo>
                  <a:pt x="10989" y="121"/>
                  <a:pt x="10772" y="1"/>
                  <a:pt x="1036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9"/>
          <p:cNvSpPr/>
          <p:nvPr/>
        </p:nvSpPr>
        <p:spPr>
          <a:xfrm>
            <a:off x="1918930" y="3201501"/>
            <a:ext cx="191349" cy="54803"/>
          </a:xfrm>
          <a:custGeom>
            <a:avLst/>
            <a:gdLst/>
            <a:ahLst/>
            <a:cxnLst/>
            <a:rect l="l" t="t" r="r" b="b"/>
            <a:pathLst>
              <a:path w="10604" h="3037" extrusionOk="0">
                <a:moveTo>
                  <a:pt x="3085" y="1"/>
                </a:moveTo>
                <a:cubicBezTo>
                  <a:pt x="2675" y="1"/>
                  <a:pt x="2242" y="121"/>
                  <a:pt x="2121" y="266"/>
                </a:cubicBezTo>
                <a:lnTo>
                  <a:pt x="121" y="2772"/>
                </a:lnTo>
                <a:cubicBezTo>
                  <a:pt x="1" y="2916"/>
                  <a:pt x="242" y="3037"/>
                  <a:pt x="675" y="3037"/>
                </a:cubicBezTo>
                <a:lnTo>
                  <a:pt x="7856" y="3037"/>
                </a:lnTo>
                <a:cubicBezTo>
                  <a:pt x="8266" y="3037"/>
                  <a:pt x="8700" y="2916"/>
                  <a:pt x="8796" y="2772"/>
                </a:cubicBezTo>
                <a:lnTo>
                  <a:pt x="10507" y="290"/>
                </a:lnTo>
                <a:cubicBezTo>
                  <a:pt x="10604" y="121"/>
                  <a:pt x="10339" y="1"/>
                  <a:pt x="995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9"/>
          <p:cNvSpPr/>
          <p:nvPr/>
        </p:nvSpPr>
        <p:spPr>
          <a:xfrm>
            <a:off x="2102430" y="3201934"/>
            <a:ext cx="183536" cy="54803"/>
          </a:xfrm>
          <a:custGeom>
            <a:avLst/>
            <a:gdLst/>
            <a:ahLst/>
            <a:cxnLst/>
            <a:rect l="l" t="t" r="r" b="b"/>
            <a:pathLst>
              <a:path w="10171" h="3037" extrusionOk="0">
                <a:moveTo>
                  <a:pt x="2627" y="1"/>
                </a:moveTo>
                <a:cubicBezTo>
                  <a:pt x="2242" y="1"/>
                  <a:pt x="1832" y="97"/>
                  <a:pt x="1736" y="266"/>
                </a:cubicBezTo>
                <a:lnTo>
                  <a:pt x="97" y="2748"/>
                </a:lnTo>
                <a:cubicBezTo>
                  <a:pt x="1" y="2917"/>
                  <a:pt x="242" y="3013"/>
                  <a:pt x="676" y="3013"/>
                </a:cubicBezTo>
                <a:lnTo>
                  <a:pt x="7857" y="3037"/>
                </a:lnTo>
                <a:cubicBezTo>
                  <a:pt x="8266" y="3037"/>
                  <a:pt x="8676" y="2917"/>
                  <a:pt x="8772" y="2772"/>
                </a:cubicBezTo>
                <a:lnTo>
                  <a:pt x="10098" y="266"/>
                </a:lnTo>
                <a:cubicBezTo>
                  <a:pt x="10170" y="121"/>
                  <a:pt x="9905" y="1"/>
                  <a:pt x="9519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49"/>
          <p:cNvSpPr/>
          <p:nvPr/>
        </p:nvSpPr>
        <p:spPr>
          <a:xfrm>
            <a:off x="2285496" y="3201934"/>
            <a:ext cx="176570" cy="54803"/>
          </a:xfrm>
          <a:custGeom>
            <a:avLst/>
            <a:gdLst/>
            <a:ahLst/>
            <a:cxnLst/>
            <a:rect l="l" t="t" r="r" b="b"/>
            <a:pathLst>
              <a:path w="9785" h="3037" extrusionOk="0">
                <a:moveTo>
                  <a:pt x="2218" y="1"/>
                </a:moveTo>
                <a:cubicBezTo>
                  <a:pt x="1832" y="1"/>
                  <a:pt x="1423" y="121"/>
                  <a:pt x="1350" y="266"/>
                </a:cubicBezTo>
                <a:lnTo>
                  <a:pt x="73" y="2772"/>
                </a:lnTo>
                <a:cubicBezTo>
                  <a:pt x="1" y="2917"/>
                  <a:pt x="290" y="3037"/>
                  <a:pt x="700" y="3037"/>
                </a:cubicBezTo>
                <a:lnTo>
                  <a:pt x="7881" y="3037"/>
                </a:lnTo>
                <a:cubicBezTo>
                  <a:pt x="8315" y="3037"/>
                  <a:pt x="8700" y="2917"/>
                  <a:pt x="8748" y="2772"/>
                </a:cubicBezTo>
                <a:lnTo>
                  <a:pt x="9712" y="266"/>
                </a:lnTo>
                <a:cubicBezTo>
                  <a:pt x="9785" y="121"/>
                  <a:pt x="9495" y="1"/>
                  <a:pt x="9086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49"/>
          <p:cNvSpPr/>
          <p:nvPr/>
        </p:nvSpPr>
        <p:spPr>
          <a:xfrm>
            <a:off x="2469447" y="3201934"/>
            <a:ext cx="169172" cy="54803"/>
          </a:xfrm>
          <a:custGeom>
            <a:avLst/>
            <a:gdLst/>
            <a:ahLst/>
            <a:cxnLst/>
            <a:rect l="l" t="t" r="r" b="b"/>
            <a:pathLst>
              <a:path w="9375" h="3037" extrusionOk="0">
                <a:moveTo>
                  <a:pt x="1808" y="1"/>
                </a:moveTo>
                <a:cubicBezTo>
                  <a:pt x="1398" y="1"/>
                  <a:pt x="1036" y="121"/>
                  <a:pt x="964" y="266"/>
                </a:cubicBezTo>
                <a:lnTo>
                  <a:pt x="48" y="2772"/>
                </a:lnTo>
                <a:cubicBezTo>
                  <a:pt x="0" y="2917"/>
                  <a:pt x="314" y="3037"/>
                  <a:pt x="723" y="3037"/>
                </a:cubicBezTo>
                <a:lnTo>
                  <a:pt x="7904" y="3037"/>
                </a:lnTo>
                <a:cubicBezTo>
                  <a:pt x="8338" y="3037"/>
                  <a:pt x="8700" y="2917"/>
                  <a:pt x="8724" y="2772"/>
                </a:cubicBezTo>
                <a:lnTo>
                  <a:pt x="9350" y="266"/>
                </a:lnTo>
                <a:cubicBezTo>
                  <a:pt x="9374" y="121"/>
                  <a:pt x="9085" y="1"/>
                  <a:pt x="8675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49"/>
          <p:cNvSpPr/>
          <p:nvPr/>
        </p:nvSpPr>
        <p:spPr>
          <a:xfrm>
            <a:off x="2652946" y="3201934"/>
            <a:ext cx="161773" cy="55254"/>
          </a:xfrm>
          <a:custGeom>
            <a:avLst/>
            <a:gdLst/>
            <a:ahLst/>
            <a:cxnLst/>
            <a:rect l="l" t="t" r="r" b="b"/>
            <a:pathLst>
              <a:path w="8965" h="3062" extrusionOk="0">
                <a:moveTo>
                  <a:pt x="1374" y="1"/>
                </a:moveTo>
                <a:cubicBezTo>
                  <a:pt x="964" y="1"/>
                  <a:pt x="603" y="121"/>
                  <a:pt x="579" y="290"/>
                </a:cubicBezTo>
                <a:lnTo>
                  <a:pt x="25" y="2772"/>
                </a:lnTo>
                <a:cubicBezTo>
                  <a:pt x="0" y="2917"/>
                  <a:pt x="314" y="3037"/>
                  <a:pt x="723" y="3037"/>
                </a:cubicBezTo>
                <a:lnTo>
                  <a:pt x="7905" y="3061"/>
                </a:lnTo>
                <a:cubicBezTo>
                  <a:pt x="8338" y="3061"/>
                  <a:pt x="8676" y="2941"/>
                  <a:pt x="8700" y="2796"/>
                </a:cubicBezTo>
                <a:lnTo>
                  <a:pt x="8941" y="290"/>
                </a:lnTo>
                <a:cubicBezTo>
                  <a:pt x="8965" y="145"/>
                  <a:pt x="8627" y="25"/>
                  <a:pt x="8242" y="25"/>
                </a:cubicBezTo>
                <a:lnTo>
                  <a:pt x="1374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49"/>
          <p:cNvSpPr/>
          <p:nvPr/>
        </p:nvSpPr>
        <p:spPr>
          <a:xfrm>
            <a:off x="2836013" y="3202367"/>
            <a:ext cx="156992" cy="54821"/>
          </a:xfrm>
          <a:custGeom>
            <a:avLst/>
            <a:gdLst/>
            <a:ahLst/>
            <a:cxnLst/>
            <a:rect l="l" t="t" r="r" b="b"/>
            <a:pathLst>
              <a:path w="8700" h="3038" extrusionOk="0">
                <a:moveTo>
                  <a:pt x="940" y="1"/>
                </a:moveTo>
                <a:cubicBezTo>
                  <a:pt x="555" y="1"/>
                  <a:pt x="217" y="121"/>
                  <a:pt x="193" y="266"/>
                </a:cubicBezTo>
                <a:lnTo>
                  <a:pt x="25" y="2772"/>
                </a:lnTo>
                <a:cubicBezTo>
                  <a:pt x="1" y="2917"/>
                  <a:pt x="338" y="3037"/>
                  <a:pt x="772" y="3037"/>
                </a:cubicBezTo>
                <a:lnTo>
                  <a:pt x="7953" y="3037"/>
                </a:lnTo>
                <a:cubicBezTo>
                  <a:pt x="8362" y="3037"/>
                  <a:pt x="8700" y="2917"/>
                  <a:pt x="8700" y="2772"/>
                </a:cubicBezTo>
                <a:lnTo>
                  <a:pt x="8555" y="266"/>
                </a:lnTo>
                <a:cubicBezTo>
                  <a:pt x="8555" y="121"/>
                  <a:pt x="8218" y="1"/>
                  <a:pt x="7808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49"/>
          <p:cNvSpPr/>
          <p:nvPr/>
        </p:nvSpPr>
        <p:spPr>
          <a:xfrm>
            <a:off x="3015597" y="3202367"/>
            <a:ext cx="160474" cy="54821"/>
          </a:xfrm>
          <a:custGeom>
            <a:avLst/>
            <a:gdLst/>
            <a:ahLst/>
            <a:cxnLst/>
            <a:rect l="l" t="t" r="r" b="b"/>
            <a:pathLst>
              <a:path w="8893" h="3038" extrusionOk="0">
                <a:moveTo>
                  <a:pt x="724" y="1"/>
                </a:moveTo>
                <a:cubicBezTo>
                  <a:pt x="338" y="1"/>
                  <a:pt x="1" y="121"/>
                  <a:pt x="25" y="266"/>
                </a:cubicBezTo>
                <a:lnTo>
                  <a:pt x="194" y="2772"/>
                </a:lnTo>
                <a:cubicBezTo>
                  <a:pt x="218" y="2917"/>
                  <a:pt x="555" y="3037"/>
                  <a:pt x="989" y="3037"/>
                </a:cubicBezTo>
                <a:lnTo>
                  <a:pt x="8170" y="3037"/>
                </a:lnTo>
                <a:cubicBezTo>
                  <a:pt x="8580" y="3037"/>
                  <a:pt x="8893" y="2917"/>
                  <a:pt x="8869" y="2772"/>
                </a:cubicBezTo>
                <a:lnTo>
                  <a:pt x="8387" y="266"/>
                </a:lnTo>
                <a:cubicBezTo>
                  <a:pt x="8363" y="121"/>
                  <a:pt x="8001" y="1"/>
                  <a:pt x="7592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49"/>
          <p:cNvSpPr/>
          <p:nvPr/>
        </p:nvSpPr>
        <p:spPr>
          <a:xfrm>
            <a:off x="3191716" y="3202367"/>
            <a:ext cx="167873" cy="55254"/>
          </a:xfrm>
          <a:custGeom>
            <a:avLst/>
            <a:gdLst/>
            <a:ahLst/>
            <a:cxnLst/>
            <a:rect l="l" t="t" r="r" b="b"/>
            <a:pathLst>
              <a:path w="9303" h="3062" extrusionOk="0">
                <a:moveTo>
                  <a:pt x="699" y="1"/>
                </a:moveTo>
                <a:cubicBezTo>
                  <a:pt x="290" y="1"/>
                  <a:pt x="0" y="121"/>
                  <a:pt x="25" y="266"/>
                </a:cubicBezTo>
                <a:lnTo>
                  <a:pt x="579" y="2772"/>
                </a:lnTo>
                <a:cubicBezTo>
                  <a:pt x="603" y="2917"/>
                  <a:pt x="964" y="3037"/>
                  <a:pt x="1398" y="3037"/>
                </a:cubicBezTo>
                <a:lnTo>
                  <a:pt x="8579" y="3061"/>
                </a:lnTo>
                <a:cubicBezTo>
                  <a:pt x="8989" y="3061"/>
                  <a:pt x="9302" y="2941"/>
                  <a:pt x="9254" y="2796"/>
                </a:cubicBezTo>
                <a:lnTo>
                  <a:pt x="8386" y="290"/>
                </a:lnTo>
                <a:cubicBezTo>
                  <a:pt x="8338" y="145"/>
                  <a:pt x="7977" y="25"/>
                  <a:pt x="7567" y="25"/>
                </a:cubicBezTo>
                <a:lnTo>
                  <a:pt x="699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49"/>
          <p:cNvSpPr/>
          <p:nvPr/>
        </p:nvSpPr>
        <p:spPr>
          <a:xfrm>
            <a:off x="3376082" y="3202800"/>
            <a:ext cx="175704" cy="54821"/>
          </a:xfrm>
          <a:custGeom>
            <a:avLst/>
            <a:gdLst/>
            <a:ahLst/>
            <a:cxnLst/>
            <a:rect l="l" t="t" r="r" b="b"/>
            <a:pathLst>
              <a:path w="9737" h="3038" extrusionOk="0">
                <a:moveTo>
                  <a:pt x="676" y="1"/>
                </a:moveTo>
                <a:cubicBezTo>
                  <a:pt x="290" y="1"/>
                  <a:pt x="1" y="121"/>
                  <a:pt x="49" y="266"/>
                </a:cubicBezTo>
                <a:lnTo>
                  <a:pt x="989" y="2772"/>
                </a:lnTo>
                <a:cubicBezTo>
                  <a:pt x="1037" y="2917"/>
                  <a:pt x="1423" y="3037"/>
                  <a:pt x="1832" y="3037"/>
                </a:cubicBezTo>
                <a:lnTo>
                  <a:pt x="9013" y="3037"/>
                </a:lnTo>
                <a:cubicBezTo>
                  <a:pt x="9447" y="3037"/>
                  <a:pt x="9736" y="2917"/>
                  <a:pt x="9664" y="2772"/>
                </a:cubicBezTo>
                <a:lnTo>
                  <a:pt x="8411" y="266"/>
                </a:lnTo>
                <a:cubicBezTo>
                  <a:pt x="8339" y="121"/>
                  <a:pt x="7953" y="1"/>
                  <a:pt x="754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49"/>
          <p:cNvSpPr/>
          <p:nvPr/>
        </p:nvSpPr>
        <p:spPr>
          <a:xfrm>
            <a:off x="3551768" y="3202800"/>
            <a:ext cx="183085" cy="54821"/>
          </a:xfrm>
          <a:custGeom>
            <a:avLst/>
            <a:gdLst/>
            <a:ahLst/>
            <a:cxnLst/>
            <a:rect l="l" t="t" r="r" b="b"/>
            <a:pathLst>
              <a:path w="10146" h="3038" extrusionOk="0">
                <a:moveTo>
                  <a:pt x="675" y="1"/>
                </a:moveTo>
                <a:cubicBezTo>
                  <a:pt x="265" y="1"/>
                  <a:pt x="0" y="121"/>
                  <a:pt x="97" y="266"/>
                </a:cubicBezTo>
                <a:lnTo>
                  <a:pt x="1374" y="2772"/>
                </a:lnTo>
                <a:cubicBezTo>
                  <a:pt x="1446" y="2917"/>
                  <a:pt x="1856" y="3037"/>
                  <a:pt x="2290" y="3037"/>
                </a:cubicBezTo>
                <a:lnTo>
                  <a:pt x="9471" y="3037"/>
                </a:lnTo>
                <a:cubicBezTo>
                  <a:pt x="9880" y="3037"/>
                  <a:pt x="10145" y="2917"/>
                  <a:pt x="10049" y="2772"/>
                </a:cubicBezTo>
                <a:lnTo>
                  <a:pt x="8459" y="266"/>
                </a:lnTo>
                <a:cubicBezTo>
                  <a:pt x="8362" y="121"/>
                  <a:pt x="7953" y="1"/>
                  <a:pt x="754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9"/>
          <p:cNvSpPr/>
          <p:nvPr/>
        </p:nvSpPr>
        <p:spPr>
          <a:xfrm>
            <a:off x="3727869" y="3202800"/>
            <a:ext cx="190483" cy="55254"/>
          </a:xfrm>
          <a:custGeom>
            <a:avLst/>
            <a:gdLst/>
            <a:ahLst/>
            <a:cxnLst/>
            <a:rect l="l" t="t" r="r" b="b"/>
            <a:pathLst>
              <a:path w="10556" h="3062" extrusionOk="0">
                <a:moveTo>
                  <a:pt x="652" y="1"/>
                </a:moveTo>
                <a:cubicBezTo>
                  <a:pt x="242" y="1"/>
                  <a:pt x="1" y="121"/>
                  <a:pt x="97" y="266"/>
                </a:cubicBezTo>
                <a:lnTo>
                  <a:pt x="1760" y="2772"/>
                </a:lnTo>
                <a:cubicBezTo>
                  <a:pt x="1856" y="2917"/>
                  <a:pt x="2266" y="3037"/>
                  <a:pt x="2700" y="3037"/>
                </a:cubicBezTo>
                <a:lnTo>
                  <a:pt x="9881" y="3061"/>
                </a:lnTo>
                <a:cubicBezTo>
                  <a:pt x="10291" y="3061"/>
                  <a:pt x="10556" y="2941"/>
                  <a:pt x="10435" y="2796"/>
                </a:cubicBezTo>
                <a:lnTo>
                  <a:pt x="8459" y="290"/>
                </a:lnTo>
                <a:cubicBezTo>
                  <a:pt x="8339" y="145"/>
                  <a:pt x="7929" y="25"/>
                  <a:pt x="7519" y="25"/>
                </a:cubicBezTo>
                <a:lnTo>
                  <a:pt x="652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9"/>
          <p:cNvSpPr/>
          <p:nvPr/>
        </p:nvSpPr>
        <p:spPr>
          <a:xfrm>
            <a:off x="3903555" y="3203251"/>
            <a:ext cx="197863" cy="54803"/>
          </a:xfrm>
          <a:custGeom>
            <a:avLst/>
            <a:gdLst/>
            <a:ahLst/>
            <a:cxnLst/>
            <a:rect l="l" t="t" r="r" b="b"/>
            <a:pathLst>
              <a:path w="10965" h="3037" extrusionOk="0">
                <a:moveTo>
                  <a:pt x="651" y="0"/>
                </a:moveTo>
                <a:cubicBezTo>
                  <a:pt x="241" y="0"/>
                  <a:pt x="0" y="120"/>
                  <a:pt x="121" y="265"/>
                </a:cubicBezTo>
                <a:lnTo>
                  <a:pt x="2145" y="2771"/>
                </a:lnTo>
                <a:cubicBezTo>
                  <a:pt x="2266" y="2916"/>
                  <a:pt x="2723" y="3036"/>
                  <a:pt x="3133" y="3036"/>
                </a:cubicBezTo>
                <a:lnTo>
                  <a:pt x="10314" y="3036"/>
                </a:lnTo>
                <a:cubicBezTo>
                  <a:pt x="10748" y="3036"/>
                  <a:pt x="10965" y="2916"/>
                  <a:pt x="10820" y="2771"/>
                </a:cubicBezTo>
                <a:lnTo>
                  <a:pt x="8483" y="265"/>
                </a:lnTo>
                <a:cubicBezTo>
                  <a:pt x="8362" y="120"/>
                  <a:pt x="7928" y="0"/>
                  <a:pt x="7519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49"/>
          <p:cNvSpPr/>
          <p:nvPr/>
        </p:nvSpPr>
        <p:spPr>
          <a:xfrm>
            <a:off x="4079656" y="3203251"/>
            <a:ext cx="205262" cy="54803"/>
          </a:xfrm>
          <a:custGeom>
            <a:avLst/>
            <a:gdLst/>
            <a:ahLst/>
            <a:cxnLst/>
            <a:rect l="l" t="t" r="r" b="b"/>
            <a:pathLst>
              <a:path w="11375" h="3037" extrusionOk="0">
                <a:moveTo>
                  <a:pt x="627" y="0"/>
                </a:moveTo>
                <a:cubicBezTo>
                  <a:pt x="218" y="0"/>
                  <a:pt x="1" y="120"/>
                  <a:pt x="145" y="265"/>
                </a:cubicBezTo>
                <a:lnTo>
                  <a:pt x="2531" y="2771"/>
                </a:lnTo>
                <a:cubicBezTo>
                  <a:pt x="2676" y="2916"/>
                  <a:pt x="3134" y="3036"/>
                  <a:pt x="3543" y="3036"/>
                </a:cubicBezTo>
                <a:lnTo>
                  <a:pt x="10724" y="3036"/>
                </a:lnTo>
                <a:cubicBezTo>
                  <a:pt x="11158" y="3036"/>
                  <a:pt x="11375" y="2916"/>
                  <a:pt x="11206" y="2771"/>
                </a:cubicBezTo>
                <a:lnTo>
                  <a:pt x="8507" y="265"/>
                </a:lnTo>
                <a:cubicBezTo>
                  <a:pt x="8339" y="120"/>
                  <a:pt x="7881" y="0"/>
                  <a:pt x="7495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9"/>
          <p:cNvSpPr/>
          <p:nvPr/>
        </p:nvSpPr>
        <p:spPr>
          <a:xfrm>
            <a:off x="1483648" y="3264117"/>
            <a:ext cx="290940" cy="54803"/>
          </a:xfrm>
          <a:custGeom>
            <a:avLst/>
            <a:gdLst/>
            <a:ahLst/>
            <a:cxnLst/>
            <a:rect l="l" t="t" r="r" b="b"/>
            <a:pathLst>
              <a:path w="16123" h="3037" extrusionOk="0">
                <a:moveTo>
                  <a:pt x="3977" y="1"/>
                </a:moveTo>
                <a:cubicBezTo>
                  <a:pt x="3543" y="1"/>
                  <a:pt x="3061" y="121"/>
                  <a:pt x="2917" y="266"/>
                </a:cubicBezTo>
                <a:lnTo>
                  <a:pt x="170" y="2748"/>
                </a:lnTo>
                <a:cubicBezTo>
                  <a:pt x="1" y="2916"/>
                  <a:pt x="242" y="3037"/>
                  <a:pt x="676" y="3037"/>
                </a:cubicBezTo>
                <a:lnTo>
                  <a:pt x="12676" y="3037"/>
                </a:lnTo>
                <a:cubicBezTo>
                  <a:pt x="13110" y="3037"/>
                  <a:pt x="13568" y="2916"/>
                  <a:pt x="13712" y="2772"/>
                </a:cubicBezTo>
                <a:lnTo>
                  <a:pt x="16002" y="266"/>
                </a:lnTo>
                <a:cubicBezTo>
                  <a:pt x="16122" y="121"/>
                  <a:pt x="15881" y="1"/>
                  <a:pt x="15472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9"/>
          <p:cNvSpPr/>
          <p:nvPr/>
        </p:nvSpPr>
        <p:spPr>
          <a:xfrm>
            <a:off x="1754558" y="3264117"/>
            <a:ext cx="203530" cy="54803"/>
          </a:xfrm>
          <a:custGeom>
            <a:avLst/>
            <a:gdLst/>
            <a:ahLst/>
            <a:cxnLst/>
            <a:rect l="l" t="t" r="r" b="b"/>
            <a:pathLst>
              <a:path w="11279" h="3037" extrusionOk="0">
                <a:moveTo>
                  <a:pt x="3374" y="1"/>
                </a:moveTo>
                <a:cubicBezTo>
                  <a:pt x="2941" y="1"/>
                  <a:pt x="2483" y="121"/>
                  <a:pt x="2362" y="266"/>
                </a:cubicBezTo>
                <a:lnTo>
                  <a:pt x="121" y="2772"/>
                </a:lnTo>
                <a:cubicBezTo>
                  <a:pt x="1" y="2916"/>
                  <a:pt x="242" y="3037"/>
                  <a:pt x="700" y="3037"/>
                </a:cubicBezTo>
                <a:lnTo>
                  <a:pt x="8242" y="3037"/>
                </a:lnTo>
                <a:cubicBezTo>
                  <a:pt x="8676" y="3037"/>
                  <a:pt x="9134" y="2916"/>
                  <a:pt x="9230" y="2772"/>
                </a:cubicBezTo>
                <a:lnTo>
                  <a:pt x="11158" y="266"/>
                </a:lnTo>
                <a:cubicBezTo>
                  <a:pt x="11278" y="121"/>
                  <a:pt x="11013" y="1"/>
                  <a:pt x="10580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9"/>
          <p:cNvSpPr/>
          <p:nvPr/>
        </p:nvSpPr>
        <p:spPr>
          <a:xfrm>
            <a:off x="1946755" y="3264117"/>
            <a:ext cx="196131" cy="55254"/>
          </a:xfrm>
          <a:custGeom>
            <a:avLst/>
            <a:gdLst/>
            <a:ahLst/>
            <a:cxnLst/>
            <a:rect l="l" t="t" r="r" b="b"/>
            <a:pathLst>
              <a:path w="10869" h="3062" extrusionOk="0">
                <a:moveTo>
                  <a:pt x="2941" y="1"/>
                </a:moveTo>
                <a:cubicBezTo>
                  <a:pt x="2531" y="1"/>
                  <a:pt x="2097" y="121"/>
                  <a:pt x="1977" y="266"/>
                </a:cubicBezTo>
                <a:lnTo>
                  <a:pt x="121" y="2772"/>
                </a:lnTo>
                <a:cubicBezTo>
                  <a:pt x="1" y="2916"/>
                  <a:pt x="290" y="3037"/>
                  <a:pt x="724" y="3037"/>
                </a:cubicBezTo>
                <a:lnTo>
                  <a:pt x="8266" y="3061"/>
                </a:lnTo>
                <a:cubicBezTo>
                  <a:pt x="8700" y="3061"/>
                  <a:pt x="9134" y="2941"/>
                  <a:pt x="9230" y="2796"/>
                </a:cubicBezTo>
                <a:lnTo>
                  <a:pt x="10773" y="290"/>
                </a:lnTo>
                <a:cubicBezTo>
                  <a:pt x="10869" y="145"/>
                  <a:pt x="10604" y="25"/>
                  <a:pt x="10170" y="25"/>
                </a:cubicBezTo>
                <a:lnTo>
                  <a:pt x="2941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9"/>
          <p:cNvSpPr/>
          <p:nvPr/>
        </p:nvSpPr>
        <p:spPr>
          <a:xfrm>
            <a:off x="2139404" y="3264550"/>
            <a:ext cx="188733" cy="54821"/>
          </a:xfrm>
          <a:custGeom>
            <a:avLst/>
            <a:gdLst/>
            <a:ahLst/>
            <a:cxnLst/>
            <a:rect l="l" t="t" r="r" b="b"/>
            <a:pathLst>
              <a:path w="10459" h="3038" extrusionOk="0">
                <a:moveTo>
                  <a:pt x="2506" y="1"/>
                </a:moveTo>
                <a:cubicBezTo>
                  <a:pt x="2097" y="1"/>
                  <a:pt x="1663" y="121"/>
                  <a:pt x="1591" y="266"/>
                </a:cubicBezTo>
                <a:lnTo>
                  <a:pt x="97" y="2772"/>
                </a:lnTo>
                <a:cubicBezTo>
                  <a:pt x="0" y="2917"/>
                  <a:pt x="289" y="3037"/>
                  <a:pt x="723" y="3037"/>
                </a:cubicBezTo>
                <a:lnTo>
                  <a:pt x="8266" y="3037"/>
                </a:lnTo>
                <a:cubicBezTo>
                  <a:pt x="8699" y="3037"/>
                  <a:pt x="9133" y="2917"/>
                  <a:pt x="9205" y="2772"/>
                </a:cubicBezTo>
                <a:lnTo>
                  <a:pt x="10386" y="266"/>
                </a:lnTo>
                <a:cubicBezTo>
                  <a:pt x="10459" y="121"/>
                  <a:pt x="10169" y="1"/>
                  <a:pt x="9736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49"/>
          <p:cNvSpPr/>
          <p:nvPr/>
        </p:nvSpPr>
        <p:spPr>
          <a:xfrm>
            <a:off x="2332467" y="3264550"/>
            <a:ext cx="181352" cy="54821"/>
          </a:xfrm>
          <a:custGeom>
            <a:avLst/>
            <a:gdLst/>
            <a:ahLst/>
            <a:cxnLst/>
            <a:rect l="l" t="t" r="r" b="b"/>
            <a:pathLst>
              <a:path w="10050" h="3038" extrusionOk="0">
                <a:moveTo>
                  <a:pt x="2097" y="1"/>
                </a:moveTo>
                <a:cubicBezTo>
                  <a:pt x="1663" y="1"/>
                  <a:pt x="1278" y="121"/>
                  <a:pt x="1205" y="266"/>
                </a:cubicBezTo>
                <a:lnTo>
                  <a:pt x="73" y="2772"/>
                </a:lnTo>
                <a:cubicBezTo>
                  <a:pt x="0" y="2917"/>
                  <a:pt x="314" y="3037"/>
                  <a:pt x="748" y="3037"/>
                </a:cubicBezTo>
                <a:lnTo>
                  <a:pt x="8290" y="3037"/>
                </a:lnTo>
                <a:cubicBezTo>
                  <a:pt x="8748" y="3037"/>
                  <a:pt x="9134" y="2917"/>
                  <a:pt x="9182" y="2772"/>
                </a:cubicBezTo>
                <a:lnTo>
                  <a:pt x="10001" y="266"/>
                </a:lnTo>
                <a:cubicBezTo>
                  <a:pt x="10049" y="121"/>
                  <a:pt x="9736" y="1"/>
                  <a:pt x="9326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9"/>
          <p:cNvSpPr/>
          <p:nvPr/>
        </p:nvSpPr>
        <p:spPr>
          <a:xfrm>
            <a:off x="2525098" y="3264550"/>
            <a:ext cx="173954" cy="55254"/>
          </a:xfrm>
          <a:custGeom>
            <a:avLst/>
            <a:gdLst/>
            <a:ahLst/>
            <a:cxnLst/>
            <a:rect l="l" t="t" r="r" b="b"/>
            <a:pathLst>
              <a:path w="9640" h="3062" extrusionOk="0">
                <a:moveTo>
                  <a:pt x="1664" y="1"/>
                </a:moveTo>
                <a:cubicBezTo>
                  <a:pt x="1230" y="1"/>
                  <a:pt x="844" y="121"/>
                  <a:pt x="796" y="266"/>
                </a:cubicBezTo>
                <a:lnTo>
                  <a:pt x="49" y="2772"/>
                </a:lnTo>
                <a:cubicBezTo>
                  <a:pt x="1" y="2917"/>
                  <a:pt x="314" y="3037"/>
                  <a:pt x="772" y="3037"/>
                </a:cubicBezTo>
                <a:lnTo>
                  <a:pt x="8290" y="3061"/>
                </a:lnTo>
                <a:cubicBezTo>
                  <a:pt x="8748" y="3061"/>
                  <a:pt x="9134" y="2941"/>
                  <a:pt x="9158" y="2796"/>
                </a:cubicBezTo>
                <a:lnTo>
                  <a:pt x="9616" y="290"/>
                </a:lnTo>
                <a:cubicBezTo>
                  <a:pt x="9640" y="145"/>
                  <a:pt x="9302" y="25"/>
                  <a:pt x="8893" y="25"/>
                </a:cubicBezTo>
                <a:lnTo>
                  <a:pt x="1664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9"/>
          <p:cNvSpPr/>
          <p:nvPr/>
        </p:nvSpPr>
        <p:spPr>
          <a:xfrm>
            <a:off x="2717295" y="3264983"/>
            <a:ext cx="166573" cy="54821"/>
          </a:xfrm>
          <a:custGeom>
            <a:avLst/>
            <a:gdLst/>
            <a:ahLst/>
            <a:cxnLst/>
            <a:rect l="l" t="t" r="r" b="b"/>
            <a:pathLst>
              <a:path w="9231" h="3038" extrusionOk="0">
                <a:moveTo>
                  <a:pt x="1254" y="1"/>
                </a:moveTo>
                <a:cubicBezTo>
                  <a:pt x="820" y="1"/>
                  <a:pt x="459" y="121"/>
                  <a:pt x="435" y="266"/>
                </a:cubicBezTo>
                <a:lnTo>
                  <a:pt x="25" y="2772"/>
                </a:lnTo>
                <a:cubicBezTo>
                  <a:pt x="1" y="2917"/>
                  <a:pt x="338" y="3037"/>
                  <a:pt x="796" y="3037"/>
                </a:cubicBezTo>
                <a:lnTo>
                  <a:pt x="8339" y="3037"/>
                </a:lnTo>
                <a:cubicBezTo>
                  <a:pt x="8772" y="3037"/>
                  <a:pt x="9134" y="2917"/>
                  <a:pt x="9134" y="2772"/>
                </a:cubicBezTo>
                <a:lnTo>
                  <a:pt x="9230" y="266"/>
                </a:lnTo>
                <a:cubicBezTo>
                  <a:pt x="9230" y="121"/>
                  <a:pt x="8893" y="1"/>
                  <a:pt x="848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9"/>
          <p:cNvSpPr/>
          <p:nvPr/>
        </p:nvSpPr>
        <p:spPr>
          <a:xfrm>
            <a:off x="2909943" y="3264983"/>
            <a:ext cx="164823" cy="54821"/>
          </a:xfrm>
          <a:custGeom>
            <a:avLst/>
            <a:gdLst/>
            <a:ahLst/>
            <a:cxnLst/>
            <a:rect l="l" t="t" r="r" b="b"/>
            <a:pathLst>
              <a:path w="9134" h="3038" extrusionOk="0">
                <a:moveTo>
                  <a:pt x="795" y="1"/>
                </a:moveTo>
                <a:cubicBezTo>
                  <a:pt x="386" y="1"/>
                  <a:pt x="48" y="121"/>
                  <a:pt x="24" y="266"/>
                </a:cubicBezTo>
                <a:lnTo>
                  <a:pt x="0" y="2772"/>
                </a:lnTo>
                <a:cubicBezTo>
                  <a:pt x="0" y="2917"/>
                  <a:pt x="362" y="3037"/>
                  <a:pt x="795" y="3037"/>
                </a:cubicBezTo>
                <a:lnTo>
                  <a:pt x="8338" y="3037"/>
                </a:lnTo>
                <a:cubicBezTo>
                  <a:pt x="8772" y="3037"/>
                  <a:pt x="9133" y="2917"/>
                  <a:pt x="9109" y="2772"/>
                </a:cubicBezTo>
                <a:lnTo>
                  <a:pt x="8820" y="266"/>
                </a:lnTo>
                <a:cubicBezTo>
                  <a:pt x="8820" y="121"/>
                  <a:pt x="8458" y="1"/>
                  <a:pt x="8025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9"/>
          <p:cNvSpPr/>
          <p:nvPr/>
        </p:nvSpPr>
        <p:spPr>
          <a:xfrm>
            <a:off x="3095608" y="3264983"/>
            <a:ext cx="171355" cy="55254"/>
          </a:xfrm>
          <a:custGeom>
            <a:avLst/>
            <a:gdLst/>
            <a:ahLst/>
            <a:cxnLst/>
            <a:rect l="l" t="t" r="r" b="b"/>
            <a:pathLst>
              <a:path w="9496" h="3062" extrusionOk="0">
                <a:moveTo>
                  <a:pt x="748" y="1"/>
                </a:moveTo>
                <a:cubicBezTo>
                  <a:pt x="338" y="1"/>
                  <a:pt x="1" y="121"/>
                  <a:pt x="25" y="266"/>
                </a:cubicBezTo>
                <a:lnTo>
                  <a:pt x="362" y="2772"/>
                </a:lnTo>
                <a:cubicBezTo>
                  <a:pt x="362" y="2917"/>
                  <a:pt x="748" y="3037"/>
                  <a:pt x="1182" y="3037"/>
                </a:cubicBezTo>
                <a:lnTo>
                  <a:pt x="8724" y="3061"/>
                </a:lnTo>
                <a:cubicBezTo>
                  <a:pt x="9182" y="3061"/>
                  <a:pt x="9495" y="2941"/>
                  <a:pt x="9471" y="2796"/>
                </a:cubicBezTo>
                <a:lnTo>
                  <a:pt x="8821" y="290"/>
                </a:lnTo>
                <a:cubicBezTo>
                  <a:pt x="8772" y="145"/>
                  <a:pt x="8411" y="25"/>
                  <a:pt x="7977" y="25"/>
                </a:cubicBezTo>
                <a:lnTo>
                  <a:pt x="748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9"/>
          <p:cNvSpPr/>
          <p:nvPr/>
        </p:nvSpPr>
        <p:spPr>
          <a:xfrm>
            <a:off x="3289556" y="3265416"/>
            <a:ext cx="179169" cy="54821"/>
          </a:xfrm>
          <a:custGeom>
            <a:avLst/>
            <a:gdLst/>
            <a:ahLst/>
            <a:cxnLst/>
            <a:rect l="l" t="t" r="r" b="b"/>
            <a:pathLst>
              <a:path w="9929" h="3038" extrusionOk="0">
                <a:moveTo>
                  <a:pt x="747" y="1"/>
                </a:moveTo>
                <a:cubicBezTo>
                  <a:pt x="314" y="1"/>
                  <a:pt x="0" y="121"/>
                  <a:pt x="49" y="266"/>
                </a:cubicBezTo>
                <a:lnTo>
                  <a:pt x="747" y="2772"/>
                </a:lnTo>
                <a:cubicBezTo>
                  <a:pt x="796" y="2917"/>
                  <a:pt x="1181" y="3037"/>
                  <a:pt x="1639" y="3037"/>
                </a:cubicBezTo>
                <a:lnTo>
                  <a:pt x="9182" y="3037"/>
                </a:lnTo>
                <a:cubicBezTo>
                  <a:pt x="9615" y="3037"/>
                  <a:pt x="9929" y="2917"/>
                  <a:pt x="9856" y="2772"/>
                </a:cubicBezTo>
                <a:lnTo>
                  <a:pt x="8844" y="266"/>
                </a:lnTo>
                <a:cubicBezTo>
                  <a:pt x="8772" y="121"/>
                  <a:pt x="8386" y="1"/>
                  <a:pt x="7953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9"/>
          <p:cNvSpPr/>
          <p:nvPr/>
        </p:nvSpPr>
        <p:spPr>
          <a:xfrm>
            <a:off x="3474806" y="3265416"/>
            <a:ext cx="186116" cy="54821"/>
          </a:xfrm>
          <a:custGeom>
            <a:avLst/>
            <a:gdLst/>
            <a:ahLst/>
            <a:cxnLst/>
            <a:rect l="l" t="t" r="r" b="b"/>
            <a:pathLst>
              <a:path w="10314" h="3038" extrusionOk="0">
                <a:moveTo>
                  <a:pt x="699" y="1"/>
                </a:moveTo>
                <a:cubicBezTo>
                  <a:pt x="289" y="1"/>
                  <a:pt x="0" y="121"/>
                  <a:pt x="48" y="266"/>
                </a:cubicBezTo>
                <a:lnTo>
                  <a:pt x="1133" y="2772"/>
                </a:lnTo>
                <a:cubicBezTo>
                  <a:pt x="1205" y="2917"/>
                  <a:pt x="1615" y="3037"/>
                  <a:pt x="2048" y="3037"/>
                </a:cubicBezTo>
                <a:lnTo>
                  <a:pt x="9591" y="3037"/>
                </a:lnTo>
                <a:cubicBezTo>
                  <a:pt x="10025" y="3037"/>
                  <a:pt x="10314" y="2917"/>
                  <a:pt x="10242" y="2772"/>
                </a:cubicBezTo>
                <a:lnTo>
                  <a:pt x="8844" y="266"/>
                </a:lnTo>
                <a:cubicBezTo>
                  <a:pt x="8772" y="121"/>
                  <a:pt x="8362" y="1"/>
                  <a:pt x="7928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9"/>
          <p:cNvSpPr/>
          <p:nvPr/>
        </p:nvSpPr>
        <p:spPr>
          <a:xfrm>
            <a:off x="3659605" y="3265416"/>
            <a:ext cx="193966" cy="55254"/>
          </a:xfrm>
          <a:custGeom>
            <a:avLst/>
            <a:gdLst/>
            <a:ahLst/>
            <a:cxnLst/>
            <a:rect l="l" t="t" r="r" b="b"/>
            <a:pathLst>
              <a:path w="10749" h="3062" extrusionOk="0">
                <a:moveTo>
                  <a:pt x="699" y="1"/>
                </a:moveTo>
                <a:cubicBezTo>
                  <a:pt x="290" y="1"/>
                  <a:pt x="1" y="121"/>
                  <a:pt x="97" y="266"/>
                </a:cubicBezTo>
                <a:lnTo>
                  <a:pt x="1543" y="2772"/>
                </a:lnTo>
                <a:cubicBezTo>
                  <a:pt x="1615" y="2941"/>
                  <a:pt x="2049" y="3037"/>
                  <a:pt x="2483" y="3037"/>
                </a:cubicBezTo>
                <a:lnTo>
                  <a:pt x="10025" y="3061"/>
                </a:lnTo>
                <a:cubicBezTo>
                  <a:pt x="10483" y="3061"/>
                  <a:pt x="10748" y="2941"/>
                  <a:pt x="10652" y="2796"/>
                </a:cubicBezTo>
                <a:lnTo>
                  <a:pt x="8893" y="290"/>
                </a:lnTo>
                <a:cubicBezTo>
                  <a:pt x="8796" y="146"/>
                  <a:pt x="8362" y="25"/>
                  <a:pt x="7929" y="25"/>
                </a:cubicBezTo>
                <a:lnTo>
                  <a:pt x="699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9"/>
          <p:cNvSpPr/>
          <p:nvPr/>
        </p:nvSpPr>
        <p:spPr>
          <a:xfrm>
            <a:off x="3844855" y="3265867"/>
            <a:ext cx="200913" cy="54803"/>
          </a:xfrm>
          <a:custGeom>
            <a:avLst/>
            <a:gdLst/>
            <a:ahLst/>
            <a:cxnLst/>
            <a:rect l="l" t="t" r="r" b="b"/>
            <a:pathLst>
              <a:path w="11134" h="3037" extrusionOk="0">
                <a:moveTo>
                  <a:pt x="675" y="0"/>
                </a:moveTo>
                <a:cubicBezTo>
                  <a:pt x="265" y="0"/>
                  <a:pt x="0" y="121"/>
                  <a:pt x="97" y="265"/>
                </a:cubicBezTo>
                <a:lnTo>
                  <a:pt x="1904" y="2771"/>
                </a:lnTo>
                <a:cubicBezTo>
                  <a:pt x="2024" y="2916"/>
                  <a:pt x="2458" y="3036"/>
                  <a:pt x="2916" y="3036"/>
                </a:cubicBezTo>
                <a:lnTo>
                  <a:pt x="10434" y="3036"/>
                </a:lnTo>
                <a:cubicBezTo>
                  <a:pt x="10892" y="3036"/>
                  <a:pt x="11133" y="2916"/>
                  <a:pt x="11013" y="2771"/>
                </a:cubicBezTo>
                <a:lnTo>
                  <a:pt x="8892" y="265"/>
                </a:lnTo>
                <a:cubicBezTo>
                  <a:pt x="8772" y="121"/>
                  <a:pt x="8338" y="0"/>
                  <a:pt x="7904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9"/>
          <p:cNvSpPr/>
          <p:nvPr/>
        </p:nvSpPr>
        <p:spPr>
          <a:xfrm>
            <a:off x="4029654" y="3265867"/>
            <a:ext cx="322681" cy="55236"/>
          </a:xfrm>
          <a:custGeom>
            <a:avLst/>
            <a:gdLst/>
            <a:ahLst/>
            <a:cxnLst/>
            <a:rect l="l" t="t" r="r" b="b"/>
            <a:pathLst>
              <a:path w="17882" h="3061" extrusionOk="0">
                <a:moveTo>
                  <a:pt x="675" y="0"/>
                </a:moveTo>
                <a:cubicBezTo>
                  <a:pt x="242" y="0"/>
                  <a:pt x="1" y="121"/>
                  <a:pt x="145" y="265"/>
                </a:cubicBezTo>
                <a:lnTo>
                  <a:pt x="2314" y="2771"/>
                </a:lnTo>
                <a:cubicBezTo>
                  <a:pt x="2435" y="2916"/>
                  <a:pt x="2892" y="3036"/>
                  <a:pt x="3350" y="3036"/>
                </a:cubicBezTo>
                <a:lnTo>
                  <a:pt x="17206" y="3060"/>
                </a:lnTo>
                <a:cubicBezTo>
                  <a:pt x="17664" y="3060"/>
                  <a:pt x="17881" y="2940"/>
                  <a:pt x="17737" y="2795"/>
                </a:cubicBezTo>
                <a:lnTo>
                  <a:pt x="15013" y="289"/>
                </a:lnTo>
                <a:cubicBezTo>
                  <a:pt x="14869" y="145"/>
                  <a:pt x="14387" y="24"/>
                  <a:pt x="13977" y="24"/>
                </a:cubicBezTo>
                <a:lnTo>
                  <a:pt x="675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49"/>
          <p:cNvSpPr/>
          <p:nvPr/>
        </p:nvSpPr>
        <p:spPr>
          <a:xfrm>
            <a:off x="1275373" y="3454149"/>
            <a:ext cx="326145" cy="54803"/>
          </a:xfrm>
          <a:custGeom>
            <a:avLst/>
            <a:gdLst/>
            <a:ahLst/>
            <a:cxnLst/>
            <a:rect l="l" t="t" r="r" b="b"/>
            <a:pathLst>
              <a:path w="18074" h="3037" extrusionOk="0">
                <a:moveTo>
                  <a:pt x="4073" y="0"/>
                </a:moveTo>
                <a:cubicBezTo>
                  <a:pt x="3591" y="0"/>
                  <a:pt x="3060" y="97"/>
                  <a:pt x="2892" y="265"/>
                </a:cubicBezTo>
                <a:lnTo>
                  <a:pt x="145" y="2747"/>
                </a:lnTo>
                <a:cubicBezTo>
                  <a:pt x="0" y="2892"/>
                  <a:pt x="265" y="3013"/>
                  <a:pt x="771" y="3013"/>
                </a:cubicBezTo>
                <a:lnTo>
                  <a:pt x="14507" y="3037"/>
                </a:lnTo>
                <a:cubicBezTo>
                  <a:pt x="15013" y="3037"/>
                  <a:pt x="15519" y="2916"/>
                  <a:pt x="15664" y="2772"/>
                </a:cubicBezTo>
                <a:lnTo>
                  <a:pt x="17929" y="265"/>
                </a:lnTo>
                <a:cubicBezTo>
                  <a:pt x="18073" y="121"/>
                  <a:pt x="17784" y="0"/>
                  <a:pt x="1730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9"/>
          <p:cNvSpPr/>
          <p:nvPr/>
        </p:nvSpPr>
        <p:spPr>
          <a:xfrm>
            <a:off x="1584971" y="3454149"/>
            <a:ext cx="227439" cy="54803"/>
          </a:xfrm>
          <a:custGeom>
            <a:avLst/>
            <a:gdLst/>
            <a:ahLst/>
            <a:cxnLst/>
            <a:rect l="l" t="t" r="r" b="b"/>
            <a:pathLst>
              <a:path w="12604" h="3037" extrusionOk="0">
                <a:moveTo>
                  <a:pt x="3495" y="0"/>
                </a:moveTo>
                <a:cubicBezTo>
                  <a:pt x="3013" y="0"/>
                  <a:pt x="2507" y="121"/>
                  <a:pt x="2362" y="265"/>
                </a:cubicBezTo>
                <a:lnTo>
                  <a:pt x="145" y="2772"/>
                </a:lnTo>
                <a:cubicBezTo>
                  <a:pt x="1" y="2916"/>
                  <a:pt x="314" y="3037"/>
                  <a:pt x="820" y="3037"/>
                </a:cubicBezTo>
                <a:lnTo>
                  <a:pt x="9447" y="3037"/>
                </a:lnTo>
                <a:cubicBezTo>
                  <a:pt x="9953" y="3037"/>
                  <a:pt x="10459" y="2916"/>
                  <a:pt x="10579" y="2772"/>
                </a:cubicBezTo>
                <a:lnTo>
                  <a:pt x="12483" y="265"/>
                </a:lnTo>
                <a:cubicBezTo>
                  <a:pt x="12604" y="121"/>
                  <a:pt x="12290" y="0"/>
                  <a:pt x="11808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49"/>
          <p:cNvSpPr/>
          <p:nvPr/>
        </p:nvSpPr>
        <p:spPr>
          <a:xfrm>
            <a:off x="1805445" y="3454149"/>
            <a:ext cx="219608" cy="55236"/>
          </a:xfrm>
          <a:custGeom>
            <a:avLst/>
            <a:gdLst/>
            <a:ahLst/>
            <a:cxnLst/>
            <a:rect l="l" t="t" r="r" b="b"/>
            <a:pathLst>
              <a:path w="12170" h="3061" extrusionOk="0">
                <a:moveTo>
                  <a:pt x="3061" y="0"/>
                </a:moveTo>
                <a:cubicBezTo>
                  <a:pt x="2554" y="0"/>
                  <a:pt x="2073" y="121"/>
                  <a:pt x="1976" y="265"/>
                </a:cubicBezTo>
                <a:lnTo>
                  <a:pt x="97" y="2772"/>
                </a:lnTo>
                <a:cubicBezTo>
                  <a:pt x="0" y="2916"/>
                  <a:pt x="313" y="3037"/>
                  <a:pt x="819" y="3037"/>
                </a:cubicBezTo>
                <a:lnTo>
                  <a:pt x="9446" y="3061"/>
                </a:lnTo>
                <a:cubicBezTo>
                  <a:pt x="9952" y="3061"/>
                  <a:pt x="10434" y="2940"/>
                  <a:pt x="10531" y="2796"/>
                </a:cubicBezTo>
                <a:lnTo>
                  <a:pt x="12073" y="290"/>
                </a:lnTo>
                <a:cubicBezTo>
                  <a:pt x="12169" y="145"/>
                  <a:pt x="11856" y="24"/>
                  <a:pt x="11350" y="24"/>
                </a:cubicBezTo>
                <a:lnTo>
                  <a:pt x="3061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49"/>
          <p:cNvSpPr/>
          <p:nvPr/>
        </p:nvSpPr>
        <p:spPr>
          <a:xfrm>
            <a:off x="2025468" y="3454582"/>
            <a:ext cx="212227" cy="54803"/>
          </a:xfrm>
          <a:custGeom>
            <a:avLst/>
            <a:gdLst/>
            <a:ahLst/>
            <a:cxnLst/>
            <a:rect l="l" t="t" r="r" b="b"/>
            <a:pathLst>
              <a:path w="11761" h="3037" extrusionOk="0">
                <a:moveTo>
                  <a:pt x="2627" y="0"/>
                </a:moveTo>
                <a:cubicBezTo>
                  <a:pt x="2145" y="0"/>
                  <a:pt x="1687" y="121"/>
                  <a:pt x="1591" y="266"/>
                </a:cubicBezTo>
                <a:lnTo>
                  <a:pt x="97" y="2772"/>
                </a:lnTo>
                <a:cubicBezTo>
                  <a:pt x="1" y="2916"/>
                  <a:pt x="338" y="3037"/>
                  <a:pt x="844" y="3037"/>
                </a:cubicBezTo>
                <a:lnTo>
                  <a:pt x="9471" y="3037"/>
                </a:lnTo>
                <a:cubicBezTo>
                  <a:pt x="9977" y="3037"/>
                  <a:pt x="10435" y="2916"/>
                  <a:pt x="10507" y="2772"/>
                </a:cubicBezTo>
                <a:lnTo>
                  <a:pt x="11712" y="266"/>
                </a:lnTo>
                <a:cubicBezTo>
                  <a:pt x="11760" y="121"/>
                  <a:pt x="11423" y="0"/>
                  <a:pt x="10941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49"/>
          <p:cNvSpPr/>
          <p:nvPr/>
        </p:nvSpPr>
        <p:spPr>
          <a:xfrm>
            <a:off x="2250290" y="3454582"/>
            <a:ext cx="1193208" cy="55669"/>
          </a:xfrm>
          <a:custGeom>
            <a:avLst/>
            <a:gdLst/>
            <a:ahLst/>
            <a:cxnLst/>
            <a:rect l="l" t="t" r="r" b="b"/>
            <a:pathLst>
              <a:path w="66124" h="3085" extrusionOk="0">
                <a:moveTo>
                  <a:pt x="2193" y="0"/>
                </a:moveTo>
                <a:cubicBezTo>
                  <a:pt x="1711" y="0"/>
                  <a:pt x="1253" y="121"/>
                  <a:pt x="1181" y="266"/>
                </a:cubicBezTo>
                <a:lnTo>
                  <a:pt x="72" y="2772"/>
                </a:lnTo>
                <a:cubicBezTo>
                  <a:pt x="0" y="2916"/>
                  <a:pt x="362" y="3037"/>
                  <a:pt x="868" y="3037"/>
                </a:cubicBezTo>
                <a:lnTo>
                  <a:pt x="65256" y="3085"/>
                </a:lnTo>
                <a:cubicBezTo>
                  <a:pt x="65763" y="3085"/>
                  <a:pt x="66124" y="2964"/>
                  <a:pt x="66076" y="2820"/>
                </a:cubicBezTo>
                <a:lnTo>
                  <a:pt x="65232" y="314"/>
                </a:lnTo>
                <a:cubicBezTo>
                  <a:pt x="65160" y="169"/>
                  <a:pt x="64726" y="49"/>
                  <a:pt x="64244" y="49"/>
                </a:cubicBezTo>
                <a:lnTo>
                  <a:pt x="2193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49"/>
          <p:cNvSpPr/>
          <p:nvPr/>
        </p:nvSpPr>
        <p:spPr>
          <a:xfrm>
            <a:off x="3457411" y="3455448"/>
            <a:ext cx="206561" cy="55254"/>
          </a:xfrm>
          <a:custGeom>
            <a:avLst/>
            <a:gdLst/>
            <a:ahLst/>
            <a:cxnLst/>
            <a:rect l="l" t="t" r="r" b="b"/>
            <a:pathLst>
              <a:path w="11447" h="3062" extrusionOk="0">
                <a:moveTo>
                  <a:pt x="844" y="1"/>
                </a:moveTo>
                <a:cubicBezTo>
                  <a:pt x="338" y="1"/>
                  <a:pt x="0" y="121"/>
                  <a:pt x="48" y="266"/>
                </a:cubicBezTo>
                <a:lnTo>
                  <a:pt x="940" y="2772"/>
                </a:lnTo>
                <a:cubicBezTo>
                  <a:pt x="1012" y="2916"/>
                  <a:pt x="1470" y="3037"/>
                  <a:pt x="1976" y="3037"/>
                </a:cubicBezTo>
                <a:lnTo>
                  <a:pt x="10579" y="3061"/>
                </a:lnTo>
                <a:cubicBezTo>
                  <a:pt x="11085" y="3061"/>
                  <a:pt x="11447" y="2941"/>
                  <a:pt x="11374" y="2796"/>
                </a:cubicBezTo>
                <a:lnTo>
                  <a:pt x="10145" y="290"/>
                </a:lnTo>
                <a:cubicBezTo>
                  <a:pt x="10097" y="145"/>
                  <a:pt x="9639" y="25"/>
                  <a:pt x="9133" y="25"/>
                </a:cubicBezTo>
                <a:lnTo>
                  <a:pt x="844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49"/>
          <p:cNvSpPr/>
          <p:nvPr/>
        </p:nvSpPr>
        <p:spPr>
          <a:xfrm>
            <a:off x="3670035" y="3455881"/>
            <a:ext cx="213960" cy="54821"/>
          </a:xfrm>
          <a:custGeom>
            <a:avLst/>
            <a:gdLst/>
            <a:ahLst/>
            <a:cxnLst/>
            <a:rect l="l" t="t" r="r" b="b"/>
            <a:pathLst>
              <a:path w="11857" h="3038" extrusionOk="0">
                <a:moveTo>
                  <a:pt x="820" y="1"/>
                </a:moveTo>
                <a:cubicBezTo>
                  <a:pt x="338" y="1"/>
                  <a:pt x="1" y="121"/>
                  <a:pt x="73" y="266"/>
                </a:cubicBezTo>
                <a:lnTo>
                  <a:pt x="1350" y="2772"/>
                </a:lnTo>
                <a:cubicBezTo>
                  <a:pt x="1423" y="2917"/>
                  <a:pt x="1905" y="3037"/>
                  <a:pt x="2411" y="3037"/>
                </a:cubicBezTo>
                <a:lnTo>
                  <a:pt x="11038" y="3037"/>
                </a:lnTo>
                <a:cubicBezTo>
                  <a:pt x="11544" y="3037"/>
                  <a:pt x="11857" y="2917"/>
                  <a:pt x="11785" y="2772"/>
                </a:cubicBezTo>
                <a:lnTo>
                  <a:pt x="10194" y="266"/>
                </a:lnTo>
                <a:cubicBezTo>
                  <a:pt x="10098" y="121"/>
                  <a:pt x="9616" y="1"/>
                  <a:pt x="9134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49"/>
          <p:cNvSpPr/>
          <p:nvPr/>
        </p:nvSpPr>
        <p:spPr>
          <a:xfrm>
            <a:off x="3882677" y="3455881"/>
            <a:ext cx="221791" cy="55254"/>
          </a:xfrm>
          <a:custGeom>
            <a:avLst/>
            <a:gdLst/>
            <a:ahLst/>
            <a:cxnLst/>
            <a:rect l="l" t="t" r="r" b="b"/>
            <a:pathLst>
              <a:path w="12291" h="3062" extrusionOk="0">
                <a:moveTo>
                  <a:pt x="820" y="1"/>
                </a:moveTo>
                <a:cubicBezTo>
                  <a:pt x="338" y="1"/>
                  <a:pt x="1" y="121"/>
                  <a:pt x="97" y="266"/>
                </a:cubicBezTo>
                <a:lnTo>
                  <a:pt x="1736" y="2772"/>
                </a:lnTo>
                <a:cubicBezTo>
                  <a:pt x="1832" y="2917"/>
                  <a:pt x="2338" y="3037"/>
                  <a:pt x="2844" y="3037"/>
                </a:cubicBezTo>
                <a:lnTo>
                  <a:pt x="11471" y="3061"/>
                </a:lnTo>
                <a:cubicBezTo>
                  <a:pt x="11977" y="3061"/>
                  <a:pt x="12290" y="2941"/>
                  <a:pt x="12170" y="2772"/>
                </a:cubicBezTo>
                <a:lnTo>
                  <a:pt x="10218" y="290"/>
                </a:lnTo>
                <a:cubicBezTo>
                  <a:pt x="10098" y="121"/>
                  <a:pt x="9616" y="1"/>
                  <a:pt x="9134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49"/>
          <p:cNvSpPr/>
          <p:nvPr/>
        </p:nvSpPr>
        <p:spPr>
          <a:xfrm>
            <a:off x="4095752" y="3456314"/>
            <a:ext cx="228738" cy="54821"/>
          </a:xfrm>
          <a:custGeom>
            <a:avLst/>
            <a:gdLst/>
            <a:ahLst/>
            <a:cxnLst/>
            <a:rect l="l" t="t" r="r" b="b"/>
            <a:pathLst>
              <a:path w="12676" h="3038" extrusionOk="0">
                <a:moveTo>
                  <a:pt x="796" y="1"/>
                </a:moveTo>
                <a:cubicBezTo>
                  <a:pt x="290" y="1"/>
                  <a:pt x="0" y="97"/>
                  <a:pt x="121" y="266"/>
                </a:cubicBezTo>
                <a:lnTo>
                  <a:pt x="2121" y="2772"/>
                </a:lnTo>
                <a:cubicBezTo>
                  <a:pt x="2242" y="2917"/>
                  <a:pt x="2748" y="3037"/>
                  <a:pt x="3254" y="3037"/>
                </a:cubicBezTo>
                <a:lnTo>
                  <a:pt x="11881" y="3037"/>
                </a:lnTo>
                <a:cubicBezTo>
                  <a:pt x="12387" y="3037"/>
                  <a:pt x="12676" y="2917"/>
                  <a:pt x="12531" y="2772"/>
                </a:cubicBezTo>
                <a:lnTo>
                  <a:pt x="10218" y="266"/>
                </a:lnTo>
                <a:cubicBezTo>
                  <a:pt x="10097" y="121"/>
                  <a:pt x="9591" y="1"/>
                  <a:pt x="9085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9"/>
          <p:cNvSpPr/>
          <p:nvPr/>
        </p:nvSpPr>
        <p:spPr>
          <a:xfrm>
            <a:off x="4309261" y="3456314"/>
            <a:ext cx="236137" cy="54821"/>
          </a:xfrm>
          <a:custGeom>
            <a:avLst/>
            <a:gdLst/>
            <a:ahLst/>
            <a:cxnLst/>
            <a:rect l="l" t="t" r="r" b="b"/>
            <a:pathLst>
              <a:path w="13086" h="3038" extrusionOk="0">
                <a:moveTo>
                  <a:pt x="772" y="1"/>
                </a:moveTo>
                <a:cubicBezTo>
                  <a:pt x="266" y="1"/>
                  <a:pt x="0" y="121"/>
                  <a:pt x="121" y="266"/>
                </a:cubicBezTo>
                <a:lnTo>
                  <a:pt x="2507" y="2772"/>
                </a:lnTo>
                <a:cubicBezTo>
                  <a:pt x="2627" y="2917"/>
                  <a:pt x="3157" y="3037"/>
                  <a:pt x="3663" y="3037"/>
                </a:cubicBezTo>
                <a:lnTo>
                  <a:pt x="12290" y="3037"/>
                </a:lnTo>
                <a:cubicBezTo>
                  <a:pt x="12796" y="3037"/>
                  <a:pt x="13085" y="2917"/>
                  <a:pt x="12917" y="2772"/>
                </a:cubicBezTo>
                <a:lnTo>
                  <a:pt x="10242" y="266"/>
                </a:lnTo>
                <a:cubicBezTo>
                  <a:pt x="10073" y="121"/>
                  <a:pt x="9567" y="1"/>
                  <a:pt x="9061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49"/>
          <p:cNvSpPr/>
          <p:nvPr/>
        </p:nvSpPr>
        <p:spPr>
          <a:xfrm>
            <a:off x="1414951" y="3326733"/>
            <a:ext cx="411805" cy="54821"/>
          </a:xfrm>
          <a:custGeom>
            <a:avLst/>
            <a:gdLst/>
            <a:ahLst/>
            <a:cxnLst/>
            <a:rect l="l" t="t" r="r" b="b"/>
            <a:pathLst>
              <a:path w="22821" h="3038" extrusionOk="0">
                <a:moveTo>
                  <a:pt x="4001" y="1"/>
                </a:moveTo>
                <a:cubicBezTo>
                  <a:pt x="3567" y="1"/>
                  <a:pt x="3061" y="121"/>
                  <a:pt x="2916" y="266"/>
                </a:cubicBezTo>
                <a:lnTo>
                  <a:pt x="169" y="2748"/>
                </a:lnTo>
                <a:cubicBezTo>
                  <a:pt x="0" y="2917"/>
                  <a:pt x="241" y="3037"/>
                  <a:pt x="723" y="3037"/>
                </a:cubicBezTo>
                <a:lnTo>
                  <a:pt x="19568" y="3037"/>
                </a:lnTo>
                <a:cubicBezTo>
                  <a:pt x="20026" y="3037"/>
                  <a:pt x="20508" y="2917"/>
                  <a:pt x="20628" y="2772"/>
                </a:cubicBezTo>
                <a:lnTo>
                  <a:pt x="22700" y="266"/>
                </a:lnTo>
                <a:cubicBezTo>
                  <a:pt x="22821" y="121"/>
                  <a:pt x="22556" y="1"/>
                  <a:pt x="22122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49"/>
          <p:cNvSpPr/>
          <p:nvPr/>
        </p:nvSpPr>
        <p:spPr>
          <a:xfrm>
            <a:off x="1815442" y="3326733"/>
            <a:ext cx="206994" cy="55254"/>
          </a:xfrm>
          <a:custGeom>
            <a:avLst/>
            <a:gdLst/>
            <a:ahLst/>
            <a:cxnLst/>
            <a:rect l="l" t="t" r="r" b="b"/>
            <a:pathLst>
              <a:path w="11471" h="3062" extrusionOk="0">
                <a:moveTo>
                  <a:pt x="3157" y="1"/>
                </a:moveTo>
                <a:cubicBezTo>
                  <a:pt x="2723" y="1"/>
                  <a:pt x="2266" y="121"/>
                  <a:pt x="2145" y="266"/>
                </a:cubicBezTo>
                <a:lnTo>
                  <a:pt x="121" y="2772"/>
                </a:lnTo>
                <a:cubicBezTo>
                  <a:pt x="0" y="2917"/>
                  <a:pt x="290" y="3037"/>
                  <a:pt x="747" y="3037"/>
                </a:cubicBezTo>
                <a:lnTo>
                  <a:pt x="8651" y="3061"/>
                </a:lnTo>
                <a:cubicBezTo>
                  <a:pt x="9109" y="3061"/>
                  <a:pt x="9567" y="2941"/>
                  <a:pt x="9664" y="2772"/>
                </a:cubicBezTo>
                <a:lnTo>
                  <a:pt x="11374" y="290"/>
                </a:lnTo>
                <a:cubicBezTo>
                  <a:pt x="11471" y="145"/>
                  <a:pt x="11206" y="25"/>
                  <a:pt x="10748" y="25"/>
                </a:cubicBezTo>
                <a:lnTo>
                  <a:pt x="3157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49"/>
          <p:cNvSpPr/>
          <p:nvPr/>
        </p:nvSpPr>
        <p:spPr>
          <a:xfrm>
            <a:off x="2017203" y="3327166"/>
            <a:ext cx="199614" cy="54821"/>
          </a:xfrm>
          <a:custGeom>
            <a:avLst/>
            <a:gdLst/>
            <a:ahLst/>
            <a:cxnLst/>
            <a:rect l="l" t="t" r="r" b="b"/>
            <a:pathLst>
              <a:path w="11062" h="3038" extrusionOk="0">
                <a:moveTo>
                  <a:pt x="2724" y="1"/>
                </a:moveTo>
                <a:cubicBezTo>
                  <a:pt x="2290" y="1"/>
                  <a:pt x="1856" y="121"/>
                  <a:pt x="1760" y="266"/>
                </a:cubicBezTo>
                <a:lnTo>
                  <a:pt x="97" y="2772"/>
                </a:lnTo>
                <a:cubicBezTo>
                  <a:pt x="1" y="2917"/>
                  <a:pt x="290" y="3037"/>
                  <a:pt x="772" y="3037"/>
                </a:cubicBezTo>
                <a:lnTo>
                  <a:pt x="8652" y="3037"/>
                </a:lnTo>
                <a:cubicBezTo>
                  <a:pt x="9134" y="3037"/>
                  <a:pt x="9567" y="2917"/>
                  <a:pt x="9640" y="2772"/>
                </a:cubicBezTo>
                <a:lnTo>
                  <a:pt x="10989" y="266"/>
                </a:lnTo>
                <a:cubicBezTo>
                  <a:pt x="11062" y="121"/>
                  <a:pt x="10772" y="1"/>
                  <a:pt x="10314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49"/>
          <p:cNvSpPr/>
          <p:nvPr/>
        </p:nvSpPr>
        <p:spPr>
          <a:xfrm>
            <a:off x="2219848" y="3327166"/>
            <a:ext cx="191782" cy="54821"/>
          </a:xfrm>
          <a:custGeom>
            <a:avLst/>
            <a:gdLst/>
            <a:ahLst/>
            <a:cxnLst/>
            <a:rect l="l" t="t" r="r" b="b"/>
            <a:pathLst>
              <a:path w="10628" h="3038" extrusionOk="0">
                <a:moveTo>
                  <a:pt x="2289" y="1"/>
                </a:moveTo>
                <a:cubicBezTo>
                  <a:pt x="1856" y="1"/>
                  <a:pt x="1422" y="121"/>
                  <a:pt x="1350" y="266"/>
                </a:cubicBezTo>
                <a:lnTo>
                  <a:pt x="72" y="2772"/>
                </a:lnTo>
                <a:cubicBezTo>
                  <a:pt x="0" y="2917"/>
                  <a:pt x="313" y="3037"/>
                  <a:pt x="771" y="3037"/>
                </a:cubicBezTo>
                <a:lnTo>
                  <a:pt x="8651" y="3037"/>
                </a:lnTo>
                <a:cubicBezTo>
                  <a:pt x="9133" y="3037"/>
                  <a:pt x="9543" y="2917"/>
                  <a:pt x="9615" y="2772"/>
                </a:cubicBezTo>
                <a:lnTo>
                  <a:pt x="10579" y="266"/>
                </a:lnTo>
                <a:cubicBezTo>
                  <a:pt x="10627" y="121"/>
                  <a:pt x="10314" y="1"/>
                  <a:pt x="9880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49"/>
          <p:cNvSpPr/>
          <p:nvPr/>
        </p:nvSpPr>
        <p:spPr>
          <a:xfrm>
            <a:off x="2421176" y="3327166"/>
            <a:ext cx="184817" cy="55254"/>
          </a:xfrm>
          <a:custGeom>
            <a:avLst/>
            <a:gdLst/>
            <a:ahLst/>
            <a:cxnLst/>
            <a:rect l="l" t="t" r="r" b="b"/>
            <a:pathLst>
              <a:path w="10242" h="3062" extrusionOk="0">
                <a:moveTo>
                  <a:pt x="1880" y="1"/>
                </a:moveTo>
                <a:cubicBezTo>
                  <a:pt x="1446" y="1"/>
                  <a:pt x="1037" y="121"/>
                  <a:pt x="964" y="266"/>
                </a:cubicBezTo>
                <a:lnTo>
                  <a:pt x="49" y="2772"/>
                </a:lnTo>
                <a:cubicBezTo>
                  <a:pt x="0" y="2917"/>
                  <a:pt x="338" y="3037"/>
                  <a:pt x="796" y="3037"/>
                </a:cubicBezTo>
                <a:lnTo>
                  <a:pt x="8700" y="3061"/>
                </a:lnTo>
                <a:cubicBezTo>
                  <a:pt x="9158" y="3061"/>
                  <a:pt x="9567" y="2941"/>
                  <a:pt x="9591" y="2796"/>
                </a:cubicBezTo>
                <a:lnTo>
                  <a:pt x="10218" y="290"/>
                </a:lnTo>
                <a:cubicBezTo>
                  <a:pt x="10242" y="145"/>
                  <a:pt x="9905" y="25"/>
                  <a:pt x="9471" y="25"/>
                </a:cubicBezTo>
                <a:lnTo>
                  <a:pt x="1880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49"/>
          <p:cNvSpPr/>
          <p:nvPr/>
        </p:nvSpPr>
        <p:spPr>
          <a:xfrm>
            <a:off x="2622938" y="3327599"/>
            <a:ext cx="177436" cy="54821"/>
          </a:xfrm>
          <a:custGeom>
            <a:avLst/>
            <a:gdLst/>
            <a:ahLst/>
            <a:cxnLst/>
            <a:rect l="l" t="t" r="r" b="b"/>
            <a:pathLst>
              <a:path w="9833" h="3038" extrusionOk="0">
                <a:moveTo>
                  <a:pt x="1447" y="1"/>
                </a:moveTo>
                <a:cubicBezTo>
                  <a:pt x="989" y="1"/>
                  <a:pt x="603" y="121"/>
                  <a:pt x="579" y="266"/>
                </a:cubicBezTo>
                <a:lnTo>
                  <a:pt x="25" y="2772"/>
                </a:lnTo>
                <a:cubicBezTo>
                  <a:pt x="1" y="2917"/>
                  <a:pt x="338" y="3037"/>
                  <a:pt x="796" y="3037"/>
                </a:cubicBezTo>
                <a:lnTo>
                  <a:pt x="8700" y="3037"/>
                </a:lnTo>
                <a:cubicBezTo>
                  <a:pt x="9158" y="3037"/>
                  <a:pt x="9543" y="2917"/>
                  <a:pt x="9568" y="2772"/>
                </a:cubicBezTo>
                <a:lnTo>
                  <a:pt x="9808" y="266"/>
                </a:lnTo>
                <a:cubicBezTo>
                  <a:pt x="9833" y="121"/>
                  <a:pt x="9471" y="1"/>
                  <a:pt x="9037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49"/>
          <p:cNvSpPr/>
          <p:nvPr/>
        </p:nvSpPr>
        <p:spPr>
          <a:xfrm>
            <a:off x="2824266" y="3327599"/>
            <a:ext cx="172655" cy="54821"/>
          </a:xfrm>
          <a:custGeom>
            <a:avLst/>
            <a:gdLst/>
            <a:ahLst/>
            <a:cxnLst/>
            <a:rect l="l" t="t" r="r" b="b"/>
            <a:pathLst>
              <a:path w="9568" h="3038" extrusionOk="0">
                <a:moveTo>
                  <a:pt x="1037" y="1"/>
                </a:moveTo>
                <a:cubicBezTo>
                  <a:pt x="579" y="1"/>
                  <a:pt x="218" y="121"/>
                  <a:pt x="194" y="266"/>
                </a:cubicBezTo>
                <a:lnTo>
                  <a:pt x="25" y="2772"/>
                </a:lnTo>
                <a:cubicBezTo>
                  <a:pt x="1" y="2917"/>
                  <a:pt x="362" y="3037"/>
                  <a:pt x="844" y="3037"/>
                </a:cubicBezTo>
                <a:lnTo>
                  <a:pt x="8724" y="3037"/>
                </a:lnTo>
                <a:cubicBezTo>
                  <a:pt x="9206" y="3037"/>
                  <a:pt x="9568" y="2917"/>
                  <a:pt x="9568" y="2772"/>
                </a:cubicBezTo>
                <a:lnTo>
                  <a:pt x="9447" y="266"/>
                </a:lnTo>
                <a:cubicBezTo>
                  <a:pt x="9423" y="121"/>
                  <a:pt x="9062" y="1"/>
                  <a:pt x="8628" y="1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9"/>
          <p:cNvSpPr/>
          <p:nvPr/>
        </p:nvSpPr>
        <p:spPr>
          <a:xfrm>
            <a:off x="3022562" y="3327599"/>
            <a:ext cx="176137" cy="55254"/>
          </a:xfrm>
          <a:custGeom>
            <a:avLst/>
            <a:gdLst/>
            <a:ahLst/>
            <a:cxnLst/>
            <a:rect l="l" t="t" r="r" b="b"/>
            <a:pathLst>
              <a:path w="9761" h="3062" extrusionOk="0">
                <a:moveTo>
                  <a:pt x="796" y="1"/>
                </a:moveTo>
                <a:cubicBezTo>
                  <a:pt x="338" y="1"/>
                  <a:pt x="0" y="121"/>
                  <a:pt x="0" y="266"/>
                </a:cubicBezTo>
                <a:lnTo>
                  <a:pt x="169" y="2772"/>
                </a:lnTo>
                <a:cubicBezTo>
                  <a:pt x="193" y="2917"/>
                  <a:pt x="579" y="3037"/>
                  <a:pt x="1037" y="3037"/>
                </a:cubicBezTo>
                <a:lnTo>
                  <a:pt x="8941" y="3061"/>
                </a:lnTo>
                <a:cubicBezTo>
                  <a:pt x="9399" y="3061"/>
                  <a:pt x="9760" y="2941"/>
                  <a:pt x="9712" y="2796"/>
                </a:cubicBezTo>
                <a:lnTo>
                  <a:pt x="9230" y="290"/>
                </a:lnTo>
                <a:cubicBezTo>
                  <a:pt x="9206" y="146"/>
                  <a:pt x="8820" y="25"/>
                  <a:pt x="8362" y="25"/>
                </a:cubicBezTo>
                <a:lnTo>
                  <a:pt x="796" y="1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49"/>
          <p:cNvSpPr/>
          <p:nvPr/>
        </p:nvSpPr>
        <p:spPr>
          <a:xfrm>
            <a:off x="3216510" y="3328050"/>
            <a:ext cx="183518" cy="54803"/>
          </a:xfrm>
          <a:custGeom>
            <a:avLst/>
            <a:gdLst/>
            <a:ahLst/>
            <a:cxnLst/>
            <a:rect l="l" t="t" r="r" b="b"/>
            <a:pathLst>
              <a:path w="10170" h="3037" extrusionOk="0">
                <a:moveTo>
                  <a:pt x="795" y="0"/>
                </a:moveTo>
                <a:cubicBezTo>
                  <a:pt x="337" y="0"/>
                  <a:pt x="0" y="121"/>
                  <a:pt x="24" y="265"/>
                </a:cubicBezTo>
                <a:lnTo>
                  <a:pt x="578" y="2771"/>
                </a:lnTo>
                <a:cubicBezTo>
                  <a:pt x="602" y="2916"/>
                  <a:pt x="1012" y="3036"/>
                  <a:pt x="1470" y="3036"/>
                </a:cubicBezTo>
                <a:lnTo>
                  <a:pt x="9374" y="3036"/>
                </a:lnTo>
                <a:cubicBezTo>
                  <a:pt x="9832" y="3036"/>
                  <a:pt x="10169" y="2916"/>
                  <a:pt x="10121" y="2771"/>
                </a:cubicBezTo>
                <a:lnTo>
                  <a:pt x="9278" y="265"/>
                </a:lnTo>
                <a:cubicBezTo>
                  <a:pt x="9205" y="121"/>
                  <a:pt x="8820" y="0"/>
                  <a:pt x="836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49"/>
          <p:cNvSpPr/>
          <p:nvPr/>
        </p:nvSpPr>
        <p:spPr>
          <a:xfrm>
            <a:off x="3410873" y="3328050"/>
            <a:ext cx="190916" cy="54803"/>
          </a:xfrm>
          <a:custGeom>
            <a:avLst/>
            <a:gdLst/>
            <a:ahLst/>
            <a:cxnLst/>
            <a:rect l="l" t="t" r="r" b="b"/>
            <a:pathLst>
              <a:path w="10580" h="3037" extrusionOk="0">
                <a:moveTo>
                  <a:pt x="748" y="0"/>
                </a:moveTo>
                <a:cubicBezTo>
                  <a:pt x="314" y="0"/>
                  <a:pt x="1" y="121"/>
                  <a:pt x="49" y="265"/>
                </a:cubicBezTo>
                <a:lnTo>
                  <a:pt x="965" y="2771"/>
                </a:lnTo>
                <a:cubicBezTo>
                  <a:pt x="1013" y="2916"/>
                  <a:pt x="1422" y="3036"/>
                  <a:pt x="1880" y="3036"/>
                </a:cubicBezTo>
                <a:lnTo>
                  <a:pt x="9784" y="3036"/>
                </a:lnTo>
                <a:cubicBezTo>
                  <a:pt x="10242" y="3036"/>
                  <a:pt x="10580" y="2940"/>
                  <a:pt x="10507" y="2771"/>
                </a:cubicBezTo>
                <a:lnTo>
                  <a:pt x="9278" y="265"/>
                </a:lnTo>
                <a:cubicBezTo>
                  <a:pt x="9206" y="121"/>
                  <a:pt x="8796" y="0"/>
                  <a:pt x="8338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49"/>
          <p:cNvSpPr/>
          <p:nvPr/>
        </p:nvSpPr>
        <p:spPr>
          <a:xfrm>
            <a:off x="3604928" y="3328429"/>
            <a:ext cx="198188" cy="54857"/>
          </a:xfrm>
          <a:custGeom>
            <a:avLst/>
            <a:gdLst/>
            <a:ahLst/>
            <a:cxnLst/>
            <a:rect l="l" t="t" r="r" b="b"/>
            <a:pathLst>
              <a:path w="10983" h="3040" extrusionOk="0">
                <a:moveTo>
                  <a:pt x="632" y="0"/>
                </a:moveTo>
                <a:cubicBezTo>
                  <a:pt x="257" y="0"/>
                  <a:pt x="0" y="114"/>
                  <a:pt x="67" y="268"/>
                </a:cubicBezTo>
                <a:lnTo>
                  <a:pt x="1344" y="2750"/>
                </a:lnTo>
                <a:cubicBezTo>
                  <a:pt x="1416" y="2919"/>
                  <a:pt x="1874" y="3039"/>
                  <a:pt x="2332" y="3039"/>
                </a:cubicBezTo>
                <a:lnTo>
                  <a:pt x="10212" y="3039"/>
                </a:lnTo>
                <a:cubicBezTo>
                  <a:pt x="10694" y="3039"/>
                  <a:pt x="10983" y="2919"/>
                  <a:pt x="10886" y="2774"/>
                </a:cubicBezTo>
                <a:lnTo>
                  <a:pt x="9320" y="268"/>
                </a:lnTo>
                <a:cubicBezTo>
                  <a:pt x="9224" y="124"/>
                  <a:pt x="8790" y="3"/>
                  <a:pt x="8332" y="3"/>
                </a:cubicBezTo>
                <a:lnTo>
                  <a:pt x="741" y="3"/>
                </a:lnTo>
                <a:cubicBezTo>
                  <a:pt x="704" y="1"/>
                  <a:pt x="668" y="0"/>
                  <a:pt x="63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9"/>
          <p:cNvSpPr/>
          <p:nvPr/>
        </p:nvSpPr>
        <p:spPr>
          <a:xfrm>
            <a:off x="3799183" y="3328483"/>
            <a:ext cx="205713" cy="54803"/>
          </a:xfrm>
          <a:custGeom>
            <a:avLst/>
            <a:gdLst/>
            <a:ahLst/>
            <a:cxnLst/>
            <a:rect l="l" t="t" r="r" b="b"/>
            <a:pathLst>
              <a:path w="11400" h="3037" extrusionOk="0">
                <a:moveTo>
                  <a:pt x="724" y="0"/>
                </a:moveTo>
                <a:cubicBezTo>
                  <a:pt x="290" y="0"/>
                  <a:pt x="1" y="121"/>
                  <a:pt x="97" y="265"/>
                </a:cubicBezTo>
                <a:lnTo>
                  <a:pt x="1736" y="2771"/>
                </a:lnTo>
                <a:cubicBezTo>
                  <a:pt x="1832" y="2916"/>
                  <a:pt x="2290" y="3036"/>
                  <a:pt x="2748" y="3036"/>
                </a:cubicBezTo>
                <a:lnTo>
                  <a:pt x="10652" y="3036"/>
                </a:lnTo>
                <a:cubicBezTo>
                  <a:pt x="11110" y="3036"/>
                  <a:pt x="11399" y="2916"/>
                  <a:pt x="11279" y="2771"/>
                </a:cubicBezTo>
                <a:lnTo>
                  <a:pt x="9327" y="265"/>
                </a:lnTo>
                <a:cubicBezTo>
                  <a:pt x="9206" y="121"/>
                  <a:pt x="8772" y="0"/>
                  <a:pt x="8315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9"/>
          <p:cNvSpPr/>
          <p:nvPr/>
        </p:nvSpPr>
        <p:spPr>
          <a:xfrm>
            <a:off x="3993564" y="3328483"/>
            <a:ext cx="212660" cy="55236"/>
          </a:xfrm>
          <a:custGeom>
            <a:avLst/>
            <a:gdLst/>
            <a:ahLst/>
            <a:cxnLst/>
            <a:rect l="l" t="t" r="r" b="b"/>
            <a:pathLst>
              <a:path w="11785" h="3061" extrusionOk="0">
                <a:moveTo>
                  <a:pt x="699" y="0"/>
                </a:moveTo>
                <a:cubicBezTo>
                  <a:pt x="266" y="0"/>
                  <a:pt x="1" y="121"/>
                  <a:pt x="121" y="265"/>
                </a:cubicBezTo>
                <a:lnTo>
                  <a:pt x="2121" y="2771"/>
                </a:lnTo>
                <a:cubicBezTo>
                  <a:pt x="2242" y="2916"/>
                  <a:pt x="2699" y="3036"/>
                  <a:pt x="3157" y="3036"/>
                </a:cubicBezTo>
                <a:lnTo>
                  <a:pt x="11061" y="3061"/>
                </a:lnTo>
                <a:cubicBezTo>
                  <a:pt x="11519" y="3061"/>
                  <a:pt x="11784" y="2940"/>
                  <a:pt x="11664" y="2771"/>
                </a:cubicBezTo>
                <a:lnTo>
                  <a:pt x="9350" y="289"/>
                </a:lnTo>
                <a:cubicBezTo>
                  <a:pt x="9206" y="121"/>
                  <a:pt x="8724" y="0"/>
                  <a:pt x="8290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49"/>
          <p:cNvSpPr/>
          <p:nvPr/>
        </p:nvSpPr>
        <p:spPr>
          <a:xfrm>
            <a:off x="4188377" y="3328917"/>
            <a:ext cx="220474" cy="54803"/>
          </a:xfrm>
          <a:custGeom>
            <a:avLst/>
            <a:gdLst/>
            <a:ahLst/>
            <a:cxnLst/>
            <a:rect l="l" t="t" r="r" b="b"/>
            <a:pathLst>
              <a:path w="12218" h="3037" extrusionOk="0">
                <a:moveTo>
                  <a:pt x="699" y="0"/>
                </a:moveTo>
                <a:cubicBezTo>
                  <a:pt x="241" y="0"/>
                  <a:pt x="0" y="97"/>
                  <a:pt x="145" y="265"/>
                </a:cubicBezTo>
                <a:lnTo>
                  <a:pt x="2506" y="2771"/>
                </a:lnTo>
                <a:cubicBezTo>
                  <a:pt x="2651" y="2916"/>
                  <a:pt x="3133" y="3037"/>
                  <a:pt x="3615" y="3037"/>
                </a:cubicBezTo>
                <a:lnTo>
                  <a:pt x="11495" y="3037"/>
                </a:lnTo>
                <a:cubicBezTo>
                  <a:pt x="11953" y="3037"/>
                  <a:pt x="12218" y="2916"/>
                  <a:pt x="12049" y="2771"/>
                </a:cubicBezTo>
                <a:lnTo>
                  <a:pt x="9374" y="265"/>
                </a:lnTo>
                <a:cubicBezTo>
                  <a:pt x="9206" y="121"/>
                  <a:pt x="8724" y="0"/>
                  <a:pt x="8290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49"/>
          <p:cNvSpPr/>
          <p:nvPr/>
        </p:nvSpPr>
        <p:spPr>
          <a:xfrm>
            <a:off x="1344937" y="3390667"/>
            <a:ext cx="547052" cy="54803"/>
          </a:xfrm>
          <a:custGeom>
            <a:avLst/>
            <a:gdLst/>
            <a:ahLst/>
            <a:cxnLst/>
            <a:rect l="l" t="t" r="r" b="b"/>
            <a:pathLst>
              <a:path w="30316" h="3037" extrusionOk="0">
                <a:moveTo>
                  <a:pt x="4049" y="0"/>
                </a:moveTo>
                <a:cubicBezTo>
                  <a:pt x="3567" y="0"/>
                  <a:pt x="3061" y="96"/>
                  <a:pt x="2917" y="265"/>
                </a:cubicBezTo>
                <a:lnTo>
                  <a:pt x="169" y="2747"/>
                </a:lnTo>
                <a:cubicBezTo>
                  <a:pt x="1" y="2892"/>
                  <a:pt x="266" y="3012"/>
                  <a:pt x="748" y="3012"/>
                </a:cubicBezTo>
                <a:lnTo>
                  <a:pt x="27255" y="3036"/>
                </a:lnTo>
                <a:cubicBezTo>
                  <a:pt x="27761" y="3036"/>
                  <a:pt x="28243" y="2916"/>
                  <a:pt x="28340" y="2771"/>
                </a:cubicBezTo>
                <a:lnTo>
                  <a:pt x="30195" y="265"/>
                </a:lnTo>
                <a:cubicBezTo>
                  <a:pt x="30316" y="121"/>
                  <a:pt x="30026" y="0"/>
                  <a:pt x="29544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49"/>
          <p:cNvSpPr/>
          <p:nvPr/>
        </p:nvSpPr>
        <p:spPr>
          <a:xfrm>
            <a:off x="1884572" y="3390667"/>
            <a:ext cx="210495" cy="55236"/>
          </a:xfrm>
          <a:custGeom>
            <a:avLst/>
            <a:gdLst/>
            <a:ahLst/>
            <a:cxnLst/>
            <a:rect l="l" t="t" r="r" b="b"/>
            <a:pathLst>
              <a:path w="11665" h="3061" extrusionOk="0">
                <a:moveTo>
                  <a:pt x="2941" y="0"/>
                </a:moveTo>
                <a:cubicBezTo>
                  <a:pt x="2483" y="0"/>
                  <a:pt x="2025" y="121"/>
                  <a:pt x="1905" y="265"/>
                </a:cubicBezTo>
                <a:lnTo>
                  <a:pt x="97" y="2771"/>
                </a:lnTo>
                <a:cubicBezTo>
                  <a:pt x="1" y="2916"/>
                  <a:pt x="290" y="3036"/>
                  <a:pt x="796" y="3036"/>
                </a:cubicBezTo>
                <a:lnTo>
                  <a:pt x="9038" y="3060"/>
                </a:lnTo>
                <a:cubicBezTo>
                  <a:pt x="9544" y="3060"/>
                  <a:pt x="10001" y="2940"/>
                  <a:pt x="10098" y="2795"/>
                </a:cubicBezTo>
                <a:lnTo>
                  <a:pt x="11592" y="289"/>
                </a:lnTo>
                <a:cubicBezTo>
                  <a:pt x="11664" y="145"/>
                  <a:pt x="11375" y="24"/>
                  <a:pt x="10893" y="24"/>
                </a:cubicBezTo>
                <a:lnTo>
                  <a:pt x="2941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49"/>
          <p:cNvSpPr/>
          <p:nvPr/>
        </p:nvSpPr>
        <p:spPr>
          <a:xfrm>
            <a:off x="2096348" y="3391100"/>
            <a:ext cx="203096" cy="54803"/>
          </a:xfrm>
          <a:custGeom>
            <a:avLst/>
            <a:gdLst/>
            <a:ahLst/>
            <a:cxnLst/>
            <a:rect l="l" t="t" r="r" b="b"/>
            <a:pathLst>
              <a:path w="11255" h="3037" extrusionOk="0">
                <a:moveTo>
                  <a:pt x="2531" y="0"/>
                </a:moveTo>
                <a:cubicBezTo>
                  <a:pt x="2049" y="0"/>
                  <a:pt x="1615" y="121"/>
                  <a:pt x="1519" y="265"/>
                </a:cubicBezTo>
                <a:lnTo>
                  <a:pt x="73" y="2771"/>
                </a:lnTo>
                <a:cubicBezTo>
                  <a:pt x="0" y="2916"/>
                  <a:pt x="314" y="3036"/>
                  <a:pt x="796" y="3036"/>
                </a:cubicBezTo>
                <a:lnTo>
                  <a:pt x="9061" y="3036"/>
                </a:lnTo>
                <a:cubicBezTo>
                  <a:pt x="9543" y="3036"/>
                  <a:pt x="10001" y="2916"/>
                  <a:pt x="10073" y="2771"/>
                </a:cubicBezTo>
                <a:lnTo>
                  <a:pt x="11206" y="265"/>
                </a:lnTo>
                <a:cubicBezTo>
                  <a:pt x="11254" y="121"/>
                  <a:pt x="10941" y="0"/>
                  <a:pt x="10459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9"/>
          <p:cNvSpPr/>
          <p:nvPr/>
        </p:nvSpPr>
        <p:spPr>
          <a:xfrm>
            <a:off x="2307240" y="3391100"/>
            <a:ext cx="195698" cy="54803"/>
          </a:xfrm>
          <a:custGeom>
            <a:avLst/>
            <a:gdLst/>
            <a:ahLst/>
            <a:cxnLst/>
            <a:rect l="l" t="t" r="r" b="b"/>
            <a:pathLst>
              <a:path w="10845" h="3037" extrusionOk="0">
                <a:moveTo>
                  <a:pt x="2097" y="0"/>
                </a:moveTo>
                <a:cubicBezTo>
                  <a:pt x="1639" y="0"/>
                  <a:pt x="1206" y="121"/>
                  <a:pt x="1133" y="265"/>
                </a:cubicBezTo>
                <a:lnTo>
                  <a:pt x="49" y="2771"/>
                </a:lnTo>
                <a:cubicBezTo>
                  <a:pt x="1" y="2916"/>
                  <a:pt x="338" y="3036"/>
                  <a:pt x="820" y="3036"/>
                </a:cubicBezTo>
                <a:lnTo>
                  <a:pt x="9086" y="3036"/>
                </a:lnTo>
                <a:cubicBezTo>
                  <a:pt x="9568" y="3036"/>
                  <a:pt x="10001" y="2916"/>
                  <a:pt x="10050" y="2771"/>
                </a:cubicBezTo>
                <a:lnTo>
                  <a:pt x="10821" y="289"/>
                </a:lnTo>
                <a:cubicBezTo>
                  <a:pt x="10845" y="121"/>
                  <a:pt x="10507" y="0"/>
                  <a:pt x="10050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49"/>
          <p:cNvSpPr/>
          <p:nvPr/>
        </p:nvSpPr>
        <p:spPr>
          <a:xfrm>
            <a:off x="2518150" y="3391533"/>
            <a:ext cx="188300" cy="54803"/>
          </a:xfrm>
          <a:custGeom>
            <a:avLst/>
            <a:gdLst/>
            <a:ahLst/>
            <a:cxnLst/>
            <a:rect l="l" t="t" r="r" b="b"/>
            <a:pathLst>
              <a:path w="10435" h="3037" extrusionOk="0">
                <a:moveTo>
                  <a:pt x="1663" y="0"/>
                </a:moveTo>
                <a:cubicBezTo>
                  <a:pt x="1205" y="0"/>
                  <a:pt x="795" y="97"/>
                  <a:pt x="747" y="265"/>
                </a:cubicBezTo>
                <a:lnTo>
                  <a:pt x="24" y="2747"/>
                </a:lnTo>
                <a:cubicBezTo>
                  <a:pt x="0" y="2916"/>
                  <a:pt x="362" y="3012"/>
                  <a:pt x="844" y="3037"/>
                </a:cubicBezTo>
                <a:lnTo>
                  <a:pt x="9109" y="3037"/>
                </a:lnTo>
                <a:cubicBezTo>
                  <a:pt x="9591" y="3037"/>
                  <a:pt x="10001" y="2916"/>
                  <a:pt x="10025" y="2772"/>
                </a:cubicBezTo>
                <a:lnTo>
                  <a:pt x="10410" y="265"/>
                </a:lnTo>
                <a:cubicBezTo>
                  <a:pt x="10434" y="121"/>
                  <a:pt x="10097" y="0"/>
                  <a:pt x="9615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49"/>
          <p:cNvSpPr/>
          <p:nvPr/>
        </p:nvSpPr>
        <p:spPr>
          <a:xfrm>
            <a:off x="2729042" y="3391533"/>
            <a:ext cx="180919" cy="54803"/>
          </a:xfrm>
          <a:custGeom>
            <a:avLst/>
            <a:gdLst/>
            <a:ahLst/>
            <a:cxnLst/>
            <a:rect l="l" t="t" r="r" b="b"/>
            <a:pathLst>
              <a:path w="10026" h="3037" extrusionOk="0">
                <a:moveTo>
                  <a:pt x="1254" y="0"/>
                </a:moveTo>
                <a:cubicBezTo>
                  <a:pt x="772" y="0"/>
                  <a:pt x="386" y="121"/>
                  <a:pt x="362" y="265"/>
                </a:cubicBezTo>
                <a:lnTo>
                  <a:pt x="25" y="2772"/>
                </a:lnTo>
                <a:cubicBezTo>
                  <a:pt x="1" y="2916"/>
                  <a:pt x="362" y="3037"/>
                  <a:pt x="868" y="3037"/>
                </a:cubicBezTo>
                <a:lnTo>
                  <a:pt x="9109" y="3037"/>
                </a:lnTo>
                <a:cubicBezTo>
                  <a:pt x="9616" y="3037"/>
                  <a:pt x="10001" y="2916"/>
                  <a:pt x="10001" y="2772"/>
                </a:cubicBezTo>
                <a:lnTo>
                  <a:pt x="10025" y="265"/>
                </a:lnTo>
                <a:cubicBezTo>
                  <a:pt x="10025" y="121"/>
                  <a:pt x="9664" y="0"/>
                  <a:pt x="918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9"/>
          <p:cNvSpPr/>
          <p:nvPr/>
        </p:nvSpPr>
        <p:spPr>
          <a:xfrm>
            <a:off x="2939501" y="3391533"/>
            <a:ext cx="180919" cy="55236"/>
          </a:xfrm>
          <a:custGeom>
            <a:avLst/>
            <a:gdLst/>
            <a:ahLst/>
            <a:cxnLst/>
            <a:rect l="l" t="t" r="r" b="b"/>
            <a:pathLst>
              <a:path w="10026" h="3061" extrusionOk="0">
                <a:moveTo>
                  <a:pt x="844" y="0"/>
                </a:moveTo>
                <a:cubicBezTo>
                  <a:pt x="386" y="0"/>
                  <a:pt x="1" y="121"/>
                  <a:pt x="1" y="265"/>
                </a:cubicBezTo>
                <a:lnTo>
                  <a:pt x="25" y="2772"/>
                </a:lnTo>
                <a:cubicBezTo>
                  <a:pt x="25" y="2916"/>
                  <a:pt x="410" y="3037"/>
                  <a:pt x="892" y="3037"/>
                </a:cubicBezTo>
                <a:lnTo>
                  <a:pt x="9158" y="3061"/>
                </a:lnTo>
                <a:cubicBezTo>
                  <a:pt x="9640" y="3061"/>
                  <a:pt x="10025" y="2940"/>
                  <a:pt x="10001" y="2796"/>
                </a:cubicBezTo>
                <a:lnTo>
                  <a:pt x="9664" y="289"/>
                </a:lnTo>
                <a:cubicBezTo>
                  <a:pt x="9664" y="145"/>
                  <a:pt x="9254" y="24"/>
                  <a:pt x="8796" y="24"/>
                </a:cubicBezTo>
                <a:lnTo>
                  <a:pt x="844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9"/>
          <p:cNvSpPr/>
          <p:nvPr/>
        </p:nvSpPr>
        <p:spPr>
          <a:xfrm>
            <a:off x="3143013" y="3391966"/>
            <a:ext cx="188300" cy="54803"/>
          </a:xfrm>
          <a:custGeom>
            <a:avLst/>
            <a:gdLst/>
            <a:ahLst/>
            <a:cxnLst/>
            <a:rect l="l" t="t" r="r" b="b"/>
            <a:pathLst>
              <a:path w="10435" h="3037" extrusionOk="0">
                <a:moveTo>
                  <a:pt x="820" y="0"/>
                </a:moveTo>
                <a:cubicBezTo>
                  <a:pt x="362" y="0"/>
                  <a:pt x="1" y="121"/>
                  <a:pt x="25" y="265"/>
                </a:cubicBezTo>
                <a:lnTo>
                  <a:pt x="410" y="2772"/>
                </a:lnTo>
                <a:cubicBezTo>
                  <a:pt x="434" y="2916"/>
                  <a:pt x="844" y="3037"/>
                  <a:pt x="1326" y="3037"/>
                </a:cubicBezTo>
                <a:lnTo>
                  <a:pt x="9591" y="3037"/>
                </a:lnTo>
                <a:cubicBezTo>
                  <a:pt x="10073" y="3037"/>
                  <a:pt x="10435" y="2916"/>
                  <a:pt x="10387" y="2772"/>
                </a:cubicBezTo>
                <a:lnTo>
                  <a:pt x="9688" y="265"/>
                </a:lnTo>
                <a:cubicBezTo>
                  <a:pt x="9664" y="121"/>
                  <a:pt x="9254" y="0"/>
                  <a:pt x="877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49"/>
          <p:cNvSpPr/>
          <p:nvPr/>
        </p:nvSpPr>
        <p:spPr>
          <a:xfrm>
            <a:off x="3346524" y="3391966"/>
            <a:ext cx="195698" cy="54803"/>
          </a:xfrm>
          <a:custGeom>
            <a:avLst/>
            <a:gdLst/>
            <a:ahLst/>
            <a:cxnLst/>
            <a:rect l="l" t="t" r="r" b="b"/>
            <a:pathLst>
              <a:path w="10845" h="3037" extrusionOk="0">
                <a:moveTo>
                  <a:pt x="820" y="0"/>
                </a:moveTo>
                <a:cubicBezTo>
                  <a:pt x="338" y="0"/>
                  <a:pt x="0" y="121"/>
                  <a:pt x="48" y="265"/>
                </a:cubicBezTo>
                <a:lnTo>
                  <a:pt x="795" y="2772"/>
                </a:lnTo>
                <a:cubicBezTo>
                  <a:pt x="844" y="2916"/>
                  <a:pt x="1277" y="3037"/>
                  <a:pt x="1759" y="3037"/>
                </a:cubicBezTo>
                <a:lnTo>
                  <a:pt x="10025" y="3037"/>
                </a:lnTo>
                <a:cubicBezTo>
                  <a:pt x="10507" y="3037"/>
                  <a:pt x="10844" y="2916"/>
                  <a:pt x="10772" y="2772"/>
                </a:cubicBezTo>
                <a:lnTo>
                  <a:pt x="9712" y="265"/>
                </a:lnTo>
                <a:cubicBezTo>
                  <a:pt x="9663" y="121"/>
                  <a:pt x="9230" y="0"/>
                  <a:pt x="8772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49"/>
          <p:cNvSpPr/>
          <p:nvPr/>
        </p:nvSpPr>
        <p:spPr>
          <a:xfrm>
            <a:off x="3550018" y="3391966"/>
            <a:ext cx="203096" cy="55236"/>
          </a:xfrm>
          <a:custGeom>
            <a:avLst/>
            <a:gdLst/>
            <a:ahLst/>
            <a:cxnLst/>
            <a:rect l="l" t="t" r="r" b="b"/>
            <a:pathLst>
              <a:path w="11255" h="3061" extrusionOk="0">
                <a:moveTo>
                  <a:pt x="796" y="0"/>
                </a:moveTo>
                <a:cubicBezTo>
                  <a:pt x="338" y="0"/>
                  <a:pt x="1" y="121"/>
                  <a:pt x="73" y="265"/>
                </a:cubicBezTo>
                <a:lnTo>
                  <a:pt x="1182" y="2772"/>
                </a:lnTo>
                <a:cubicBezTo>
                  <a:pt x="1254" y="2916"/>
                  <a:pt x="1688" y="3037"/>
                  <a:pt x="2194" y="3037"/>
                </a:cubicBezTo>
                <a:lnTo>
                  <a:pt x="10435" y="3061"/>
                </a:lnTo>
                <a:cubicBezTo>
                  <a:pt x="10917" y="3061"/>
                  <a:pt x="11255" y="2940"/>
                  <a:pt x="11158" y="2796"/>
                </a:cubicBezTo>
                <a:lnTo>
                  <a:pt x="9736" y="290"/>
                </a:lnTo>
                <a:cubicBezTo>
                  <a:pt x="9664" y="145"/>
                  <a:pt x="9206" y="24"/>
                  <a:pt x="8748" y="24"/>
                </a:cubicBezTo>
                <a:lnTo>
                  <a:pt x="796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3753529" y="3392399"/>
            <a:ext cx="210477" cy="54803"/>
          </a:xfrm>
          <a:custGeom>
            <a:avLst/>
            <a:gdLst/>
            <a:ahLst/>
            <a:cxnLst/>
            <a:rect l="l" t="t" r="r" b="b"/>
            <a:pathLst>
              <a:path w="11664" h="3037" extrusionOk="0">
                <a:moveTo>
                  <a:pt x="772" y="0"/>
                </a:moveTo>
                <a:cubicBezTo>
                  <a:pt x="314" y="0"/>
                  <a:pt x="1" y="121"/>
                  <a:pt x="97" y="266"/>
                </a:cubicBezTo>
                <a:lnTo>
                  <a:pt x="1567" y="2772"/>
                </a:lnTo>
                <a:cubicBezTo>
                  <a:pt x="1663" y="2916"/>
                  <a:pt x="2121" y="3037"/>
                  <a:pt x="2603" y="3037"/>
                </a:cubicBezTo>
                <a:lnTo>
                  <a:pt x="10869" y="3037"/>
                </a:lnTo>
                <a:cubicBezTo>
                  <a:pt x="11351" y="3037"/>
                  <a:pt x="11664" y="2916"/>
                  <a:pt x="11568" y="2772"/>
                </a:cubicBezTo>
                <a:lnTo>
                  <a:pt x="9760" y="266"/>
                </a:lnTo>
                <a:cubicBezTo>
                  <a:pt x="9664" y="121"/>
                  <a:pt x="9206" y="0"/>
                  <a:pt x="8724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49"/>
          <p:cNvSpPr/>
          <p:nvPr/>
        </p:nvSpPr>
        <p:spPr>
          <a:xfrm>
            <a:off x="3957041" y="3392399"/>
            <a:ext cx="217875" cy="54803"/>
          </a:xfrm>
          <a:custGeom>
            <a:avLst/>
            <a:gdLst/>
            <a:ahLst/>
            <a:cxnLst/>
            <a:rect l="l" t="t" r="r" b="b"/>
            <a:pathLst>
              <a:path w="12074" h="3037" extrusionOk="0">
                <a:moveTo>
                  <a:pt x="771" y="0"/>
                </a:moveTo>
                <a:cubicBezTo>
                  <a:pt x="290" y="0"/>
                  <a:pt x="0" y="121"/>
                  <a:pt x="121" y="266"/>
                </a:cubicBezTo>
                <a:lnTo>
                  <a:pt x="1952" y="2772"/>
                </a:lnTo>
                <a:cubicBezTo>
                  <a:pt x="2073" y="2916"/>
                  <a:pt x="2555" y="3037"/>
                  <a:pt x="3037" y="3037"/>
                </a:cubicBezTo>
                <a:lnTo>
                  <a:pt x="11302" y="3037"/>
                </a:lnTo>
                <a:cubicBezTo>
                  <a:pt x="11784" y="3037"/>
                  <a:pt x="12073" y="2940"/>
                  <a:pt x="11953" y="2772"/>
                </a:cubicBezTo>
                <a:lnTo>
                  <a:pt x="9784" y="266"/>
                </a:lnTo>
                <a:cubicBezTo>
                  <a:pt x="9664" y="121"/>
                  <a:pt x="9182" y="0"/>
                  <a:pt x="8724" y="0"/>
                </a:cubicBez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49"/>
          <p:cNvSpPr/>
          <p:nvPr/>
        </p:nvSpPr>
        <p:spPr>
          <a:xfrm>
            <a:off x="4161418" y="3392399"/>
            <a:ext cx="315715" cy="55236"/>
          </a:xfrm>
          <a:custGeom>
            <a:avLst/>
            <a:gdLst/>
            <a:ahLst/>
            <a:cxnLst/>
            <a:rect l="l" t="t" r="r" b="b"/>
            <a:pathLst>
              <a:path w="17496" h="3061" extrusionOk="0">
                <a:moveTo>
                  <a:pt x="747" y="0"/>
                </a:moveTo>
                <a:cubicBezTo>
                  <a:pt x="289" y="0"/>
                  <a:pt x="0" y="121"/>
                  <a:pt x="145" y="290"/>
                </a:cubicBezTo>
                <a:lnTo>
                  <a:pt x="2338" y="2772"/>
                </a:lnTo>
                <a:cubicBezTo>
                  <a:pt x="2482" y="2940"/>
                  <a:pt x="2988" y="3061"/>
                  <a:pt x="3470" y="3061"/>
                </a:cubicBezTo>
                <a:lnTo>
                  <a:pt x="16748" y="3061"/>
                </a:lnTo>
                <a:cubicBezTo>
                  <a:pt x="17230" y="3061"/>
                  <a:pt x="17495" y="2940"/>
                  <a:pt x="17351" y="2796"/>
                </a:cubicBezTo>
                <a:lnTo>
                  <a:pt x="14652" y="290"/>
                </a:lnTo>
                <a:cubicBezTo>
                  <a:pt x="14507" y="145"/>
                  <a:pt x="14001" y="25"/>
                  <a:pt x="13543" y="25"/>
                </a:cubicBezTo>
                <a:lnTo>
                  <a:pt x="747" y="0"/>
                </a:lnTo>
                <a:close/>
              </a:path>
            </a:pathLst>
          </a:custGeom>
          <a:solidFill>
            <a:srgbClr val="1B1464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9"/>
          <p:cNvSpPr/>
          <p:nvPr/>
        </p:nvSpPr>
        <p:spPr>
          <a:xfrm>
            <a:off x="684417" y="3742003"/>
            <a:ext cx="4454535" cy="35242"/>
          </a:xfrm>
          <a:custGeom>
            <a:avLst/>
            <a:gdLst/>
            <a:ahLst/>
            <a:cxnLst/>
            <a:rect l="l" t="t" r="r" b="b"/>
            <a:pathLst>
              <a:path w="246857" h="1953" extrusionOk="0">
                <a:moveTo>
                  <a:pt x="940" y="1"/>
                </a:moveTo>
                <a:cubicBezTo>
                  <a:pt x="0" y="989"/>
                  <a:pt x="2314" y="1760"/>
                  <a:pt x="6386" y="1760"/>
                </a:cubicBezTo>
                <a:lnTo>
                  <a:pt x="240447" y="1953"/>
                </a:lnTo>
                <a:cubicBezTo>
                  <a:pt x="244519" y="1953"/>
                  <a:pt x="246857" y="1158"/>
                  <a:pt x="245917" y="194"/>
                </a:cubicBezTo>
                <a:lnTo>
                  <a:pt x="245917" y="194"/>
                </a:lnTo>
                <a:cubicBezTo>
                  <a:pt x="245309" y="732"/>
                  <a:pt x="243408" y="1111"/>
                  <a:pt x="240698" y="1111"/>
                </a:cubicBezTo>
                <a:cubicBezTo>
                  <a:pt x="240615" y="1111"/>
                  <a:pt x="240531" y="1110"/>
                  <a:pt x="240447" y="1109"/>
                </a:cubicBezTo>
                <a:lnTo>
                  <a:pt x="6386" y="941"/>
                </a:lnTo>
                <a:cubicBezTo>
                  <a:pt x="3543" y="941"/>
                  <a:pt x="1567" y="555"/>
                  <a:pt x="940" y="1"/>
                </a:cubicBez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9" name="Google Shape;84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570" y="1259790"/>
            <a:ext cx="2770633" cy="1823462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49"/>
          <p:cNvSpPr/>
          <p:nvPr/>
        </p:nvSpPr>
        <p:spPr>
          <a:xfrm>
            <a:off x="1470602" y="1162091"/>
            <a:ext cx="2937383" cy="1896800"/>
          </a:xfrm>
          <a:custGeom>
            <a:avLst/>
            <a:gdLst/>
            <a:ahLst/>
            <a:cxnLst/>
            <a:rect l="l" t="t" r="r" b="b"/>
            <a:pathLst>
              <a:path w="162781" h="105115" extrusionOk="0">
                <a:moveTo>
                  <a:pt x="3543" y="1"/>
                </a:moveTo>
                <a:cubicBezTo>
                  <a:pt x="2242" y="1"/>
                  <a:pt x="1013" y="386"/>
                  <a:pt x="1" y="1061"/>
                </a:cubicBezTo>
                <a:lnTo>
                  <a:pt x="162684" y="105115"/>
                </a:lnTo>
                <a:lnTo>
                  <a:pt x="162781" y="6676"/>
                </a:lnTo>
                <a:cubicBezTo>
                  <a:pt x="162781" y="3061"/>
                  <a:pt x="159841" y="121"/>
                  <a:pt x="156250" y="121"/>
                </a:cubicBezTo>
                <a:lnTo>
                  <a:pt x="3543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" grpId="0" build="p"/>
      <p:bldP spid="7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/>
          <p:cNvSpPr txBox="1"/>
          <p:nvPr/>
        </p:nvSpPr>
        <p:spPr>
          <a:xfrm>
            <a:off x="2510099" y="1430525"/>
            <a:ext cx="4240105" cy="29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EasyOCR — Official Documentation Streamlit Documentation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European Food Safety Authority — Food additives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European Commission — Food additives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World Health Organization — Healthy diet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Open Food Facts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Реални тестове със снимки на етикети: пражка шунка, луканка, шоколадово-зърнен продукт и други пакетирани храни от различни източници</a:t>
            </a:r>
            <a:endParaRPr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856" name="Google Shape;856;p50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ИЗТОЧНИЦИ</a:t>
            </a:r>
            <a:endParaRPr dirty="0"/>
          </a:p>
        </p:txBody>
      </p:sp>
      <p:sp>
        <p:nvSpPr>
          <p:cNvPr id="857" name="Google Shape;857;p50"/>
          <p:cNvSpPr/>
          <p:nvPr/>
        </p:nvSpPr>
        <p:spPr>
          <a:xfrm flipH="1">
            <a:off x="2510100" y="4483499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Overpass Mono" panose="020B0604020202020204" charset="0"/>
              </a:rPr>
              <a:t>ChatGPT, Gemini, Claude</a:t>
            </a:r>
            <a:endParaRPr b="1" dirty="0">
              <a:latin typeface="Overpass Mon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" grpId="0"/>
      <p:bldP spid="856" grpId="0"/>
      <p:bldP spid="85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БЛАГОДАРЯ ВИ ЗА ВНИМАНИЕТО!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" grpId="0"/>
    </p:bldLst>
  </p:timing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1052</Words>
  <Application>Microsoft Office PowerPoint</Application>
  <PresentationFormat>On-screen Show (16:9)</PresentationFormat>
  <Paragraphs>108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Barlow</vt:lpstr>
      <vt:lpstr>Raleway SemiBold</vt:lpstr>
      <vt:lpstr>Barlow Condensed ExtraBold</vt:lpstr>
      <vt:lpstr>Overpass Mono</vt:lpstr>
      <vt:lpstr>Arial</vt:lpstr>
      <vt:lpstr>Nunito Light</vt:lpstr>
      <vt:lpstr>Anaheim</vt:lpstr>
      <vt:lpstr>Programming Lesson by Slidesgo</vt:lpstr>
      <vt:lpstr>AI FOOD LABEL ANALIZER</vt:lpstr>
      <vt:lpstr>Съдържание на презентацията</vt:lpstr>
      <vt:lpstr>— Основна идея</vt:lpstr>
      <vt:lpstr>Какво търси алгоритм?</vt:lpstr>
      <vt:lpstr>Какво търси алгоритма?</vt:lpstr>
      <vt:lpstr>Начин на работа на алгоритма и структура на програмата</vt:lpstr>
      <vt:lpstr>Начин на работа на алгоритъма</vt:lpstr>
      <vt:lpstr>Речници  с данни</vt:lpstr>
      <vt:lpstr>Основни  функции</vt:lpstr>
      <vt:lpstr>Основни  функции</vt:lpstr>
      <vt:lpstr>Основни функции- scan_for_e_numbers </vt:lpstr>
      <vt:lpstr>Основни функции- scan_for_keywords </vt:lpstr>
      <vt:lpstr>Основни функции- generate_report_content </vt:lpstr>
      <vt:lpstr>Основни функции- main </vt:lpstr>
      <vt:lpstr>Основни функции- main</vt:lpstr>
      <vt:lpstr>Тестване на приложението</vt:lpstr>
      <vt:lpstr>Резултати от анализа</vt:lpstr>
      <vt:lpstr>Предимства и ограничения</vt:lpstr>
      <vt:lpstr>По-голяма</vt:lpstr>
      <vt:lpstr>Заключение</vt:lpstr>
      <vt:lpstr>ИЗТОЧНИЦИ</vt:lpstr>
      <vt:lpstr>БЛАГОДАРЯ ВИ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</dc:creator>
  <cp:lastModifiedBy>Олександр О. Шамрай</cp:lastModifiedBy>
  <cp:revision>5</cp:revision>
  <dcterms:modified xsi:type="dcterms:W3CDTF">2026-05-19T05:52:03Z</dcterms:modified>
</cp:coreProperties>
</file>